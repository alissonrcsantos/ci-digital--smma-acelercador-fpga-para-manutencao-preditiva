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af3562d-1088-f398-32b8-86d9ffe211e0}">
          <p14:sldIdLst>
            <p14:sldId id="256"/>
          </p14:sldIdLst>
        </p14:section>
        <p14:section name="Roteiro" id="{d79e3bc4-091c-c870-cb4a-c261c66bfd90}">
          <p14:sldIdLst>
            <p14:sldId id="257"/>
          </p14:sldIdLst>
        </p14:section>
        <p14:section name="Contexto" id="{89f1172a-8a31-4ac6-76f8-164bb60c026e}">
          <p14:sldIdLst>
            <p14:sldId id="258"/>
            <p14:sldId id="259"/>
          </p14:sldIdLst>
        </p14:section>
        <p14:section name="Dados e treinamento" id="{00660a7b-df30-5530-d9d1-9cb420513548}">
          <p14:sldIdLst>
            <p14:sldId id="260"/>
            <p14:sldId id="261"/>
            <p14:sldId id="262"/>
            <p14:sldId id="263"/>
          </p14:sldIdLst>
        </p14:section>
        <p14:section name="Arquitetura geral" id="{9ce70720-115d-899f-9bfa-918c01e3a545}">
          <p14:sldIdLst>
            <p14:sldId id="264"/>
            <p14:sldId id="265"/>
            <p14:sldId id="266"/>
            <p14:sldId id="267"/>
          </p14:sldIdLst>
        </p14:section>
        <p14:section name="Entrada e sinais" id="{c661bd47-bcf4-2199-8e1b-0066bfcfc334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Estimação de parâmetros" id="{108e8546-92fe-bba6-ad82-524538dddc5d}">
          <p14:sldIdLst>
            <p14:sldId id="277"/>
            <p14:sldId id="278"/>
          </p14:sldIdLst>
        </p14:section>
        <p14:section name="Classificadores" id="{a7be146e-4f12-77ea-4942-ccd3adfdef7d}">
          <p14:sldIdLst>
            <p14:sldId id="279"/>
            <p14:sldId id="280"/>
            <p14:sldId id="281"/>
            <p14:sldId id="282"/>
            <p14:sldId id="283"/>
          </p14:sldIdLst>
        </p14:section>
        <p14:section name="Implementação e resultados" id="{3b7afd81-79c1-eac5-a497-d5c54fc3c2e5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Apêndice" id="{36f9232d-8c88-3de7-3e53-ad41094bc414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(0,5 min). Apresente a equipe e quem construiu cada bloco. Mensagem central da apresentação: o foco é mostrar COMO cada algoritmo foi modelado para hardware — datapath, controle, ciclos e recursos — e provar que o hardware calcula exatamente o que o modelo em Python calcula.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(0,5 min). São 7 blocos. O fio condutor é o caminho de uma janela de vibração: do sensor até a classe no display. Em cada módulo mostramos algoritmo → datapath → controle → ciclos → recursos, como pede o entregável 6.2.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e objetivo (1,5 min). Hoje os dados dos sensores vão para um PC externo: latência, consumo e dependência de rede. O SMMA faz tudo localmente na FPGA. Por que FPGA: latência determinística (a decisão sai 0,2 ms depois da última amostra), paralelismo real entre os ramos e baixo consumo na borda. O sistema classifica 4 estados e mostra o resultado no display da placa.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de projeto (2 min). Esta é a ideia que amarra a apresentação inteira. (1) O Python não é só o lugar do treino: ele É a especificação do hardware — o filtro, a FFT, o log2 e as características foram escritos em aritmética inteira, com o mesmo arredondamento e a mesma saturação do RTL. (2) O treino respeita as limitações do hardware (Q1.15, saturação). (3) Os pesos e limiares viram arquivos .hex/ROM. (4) Cada módulo RTL tem um testbench que compara bit a bit com o modelo. (5) Só então vai para o Quartus e para a placa. Por isso o resultado na placa é previsível: 11/12 na árvore, igual ao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(2 min). Jung et al., Data in Brief 48 (2023), KAIST. Bancada com motor de 3 HP girando a 3010 rpm (50,17 Hz) e dois mancais, A e B. Cada mancal tem 2 acelerômetros (eixos x e y) a 25,6 kHz — daí os nomes Xa, Ya, Xb, Yb do nosso diagrama: letra maiúscula = eixo, minúscula = mancal. Todas as falhas foram inseridas junto ao mancal A. Usamos só o Xa (Canal1): no eixo x o pico em 50 Hz cresce com o desbalanceamento; no y quase não muda — com o Ya a rede não separava desbalanceamento de normal. E só um canal cabe na placa (a ROM de um canal já usa 52% da memória). 45 arquivos = 3 cargas × 15 condições, agrupados nas 4 classes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Tratamento (2 min). Esta cadeia, escrita em python/smma/espectrograma.py e features.py, é a especificação do hardware: cada passo tem um bloco Verilog correspondente. Escala: ±32 g vira ±1 em Q1.15. FIR passa-baixa de 63 taps e decimação por 8: de 25,6 para 3,2 kHz, para que cada bin da FFT de 64 pontos valha 50 Hz. FFT de 64 pontos a cada 32 amostras (10 ms). Daí saem dois produtos: a imagem 32×32 (32 FFTs, log2 de Mitchell) para a CNN e 12 características numéricas para a árvore, sobre exatamente a mesma janela de 1056 amostras. Divisão por TEMPO dentro de cada arquivo (70/15/15 com 0,5 s de guarda): janelas vizinhas são quase iguais, sortear colocaria a mesma janela no treino e no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 em Python (2 min). A rede em PyTorch é camada por camada a mesma do RTL: só 116 parâmetros. Restrições do hardware aplicadas DURANTE o treino: parâmetros limitados a [−1, 1) depois de cada passo; quantização simulada no forward (QAT); saturação nos mesmos pontos do RTL. O melhor modelo é escolhido pela acurácia balanceada na validação calculada pelo MODELO BIT-EXATO, não pelo float — ou seja, o melhor no hardware. O passo 05 converte os pesos inteiros em Verilog: a CNN_Weight_ROM é organizada por tap (endereço t = 0..8 devolve os 8 pesos do tap numa palavra de 128 bits), porque a convolução processa 1 tap por ciclo com os 8 filtros em paralelo. Ele também gera os vetores esperados dos testbenches, então retreinar não exige editar nada à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 em Python (2 min). As 12 características são calculadas na mesma janela da CNN, com a aritmética inteira do hardware (features.py). O passo 07 compara árvore e SVM-RBF nas mesmas janelas de teste: a SVM acerta ~3 pontos a mais, mas precisa de 22 mil multiplicações e 45 kB por decisão. A árvore não usa nenhum multiplicador. A profundidade 9 (141 nós) foi escolhida pela curva de validação. Os limiares são quantizados em Q1.15 — float e ponto fixo discordam em 0,15% das janelas. O passo 08 grava cada nó em 32 bits: bit 31 diz se é folha; nos internos, 4 bits de índice da característica, 16 bits de limiar e 8 bits do filho direito. O filho esquerdo é sempre o nó seguinte (o sklearn constrói em profundidade), então não precisa ser armazenado.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geral (2,5 min) — entregável 6.1. Leia da esquerda para a direita. ENTRADA: o simulador do sensor Xa entrega 25,6 kHz; o FIR filtra e decima para 3,2 kHz; o LMS fica em série — toda amostra passa por ele antes do barramento. O DATA BUS DRIVER entrega a mesma amostra, ao mesmo tempo, a dois ramos: o RAMO FFT (MEM_A monta quadros de 64, FFT, MEM_B acumula o espectro médio; dele saem os picos → Euclides → f0 e as bandas BPFO/BPFI) e a ESTIMAÇÃO DE PARÂMETROS (acumulador de coeficientes = autocorrelação; Gauss-Jordan inverte a matriz de Yule-Walker). Tudo que é característica vai para o PARAMETER REGFILE, que alimenta a árvore. Em paralelo, o RAMO CNN recebe as magnitudes da FFT, monta o espectrograma e classifica. O CONTROLE GLOBAL dá um único start a todos. Diferenças em relação ao rascunho do grupo: 1 canal (só cabe 1 na memória), FFT DIT (já verificada bit a bit) e o LMS repassa o sinal do FIR, que é o sinal com que os modelos foram treinados.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 e handshaking (2 min) — FSM detalhada do controlador global (6.3) e pergunta 10. A FSM global tem 5 estados: PARADO espera KEY1 com todos os blocos prontos; ARRANCA dá UM pulso de start a todos no mesmo ciclo (se um ramo começasse um ciclo depois, o vetor de características ficaria desalinhado); ADQUIRE dura as 1056 amostras; DECIDE espera a árvore E a CNN; PRONTO registra o veredito e acende LEDR9. Entre os blocos, todo stream usa valid/ready: o produtor segura o dado enquanto ready = 0 (não perde) e só troca depois do aceite (não sobrescreve). Onde um stream vai para vários consumidores, o Stream_Fork faz JOIN: in_ready = AND dos ready, e todos veem o mesmo ciclo de transferência — nenhum ramo processa uma janela diferente. Pergunta 10: um dado é válido quando valid = 1; o fim de cada bloco é o pulso done; o resultado final é válido quando LEDR9 acende.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 de execução (1,5 min). Não escolhemos uma única estratégia: cada uma está onde faz sentido. SÉRIE: FIR → LMS → barramento, cada amostra atravessa os três. PIPELINE por stream: amostra → quadro → FFT → espectro → CNN avançam pelo handshake, sem esperar a janela inteira. PARALELO: os ramos FFT/MDC, estimação de parâmetros e CNN trabalham sobre a mesma janela ao mesmo tempo, e os 8 filtros da convolução rodam juntos. COMPARTILHADO dentro de cada módulo: um multiplicador no FIR (63 vezes), um PE no LMS (16 vezes), uma butterfly na FFT (192 vezes), um MAC na densa. SEQUENCIAL entre janelas: uma nova só começa quando todos voltaram ao repouso. Orçamento: 10 ms × 50 MHz = 500 000 ciclos por quadro novo; usamos 636 na FFT.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Formato numérico (2 min) — entregável 6.4 e pergunta 3. Convenção: Qi.f, i inclui o bit de sinal. Quase tudo é Q1.15 (16 bits), que cabe nos DSPs 18×18 do Cyclone V. Riscos de overflow e como tratamos: na FFT a butterfly divide por 2 em 4 dos 6 estágios (ganho 1/16, a escala do treino) e satura nos outros; acumuladores largos (40 bits no FIR e na CNN, 48 na autocorrelação) — overflow só na requantização, onde saturamos em vez de dar wrap-around. A inversão de matriz precisou de Q8.16: medimos no dataset |R⁻¹| até ~16, e o Q4.12 original só vai até ±8. Perda de precisão medida: CNN 0,02% de divergência entre float e ponto fixo; árvore 0,15%; Yule-Walker ≤ 1 LSB contra o numpy.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Simulador do sensor (2 min). Não há acelerômetro ligado à FPGA, então o Sample_Source faz o papel do sensor + conversor A/D. Ele guarda numa ROM 12 janelas REAIS do Canal1, com 8503 amostras cada (332 ms), em Q1.15: 1,6 Mbit em 200 blocos M10K. As janelas são 4 classes × 3 cargas, todas da partição de TESTE, escolhidas de forma determinística (a primeira de teste de cada combinação) — demonstrar com dados de treino não provaria nada. Um contador divide 50 MHz por 1953 e libera uma amostra a 25,6 kHz (erro de 0,006%). A saída usa valid/ready, a mesma interface de um ADC: trocar por um sensor real não muda nada depois do FIR. SW[3:0] escolhe a janela; uma segunda ROM guarda a classe verdadeira e a prevista pelo Python, mostradas no painel.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 e decimação (1,5 min). Sem decimar, a FFT de 64 pontos a 25,6 kHz tem raias de 400 Hz: rotação (50 Hz), harmônicos e as frequências de rolamento (BPFO 179 Hz, BPFI 272 Hz) cairiam todas no bin 0. Decimando por 8, cada bin vale 50 Hz e elas se separam. O FIR passa-baixa (63 taps, corte 1,4 kHz) é obrigatório antes de decimar, senão o conteúdo acima de 1,6 kHz rebate por aliasing para dentro da banda. Arquitetura: só precisamos de uma saída a cada 8 entradas, ou seja a cada 15 625 ciclos; o MAC leva 63. Por isso um único multiplicador reutilizado 63 vezes basta — usa 0,4% do tempo disponível, e os DSPs ficam para a CNN e a FFT.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LMS — algoritmo e datapath (2 min). Com um único sensor, usamos o LMS como preditor linear (filtro adaptativo de linha): a entrada é o passado x[n−1] e o desejado é a amostra atual x[n]. O que é previsível (componentes periódicas) aparece em y(n); o que sobra, e(n), é ruído de banda larga. Armazenamento: as 8 amostras num registrador de deslocamento (linha de atraso endereçável) e os 8 pesos num banco de registradores Q1.15. Os multiplicadores são COMPARTILHADOS: um único elemento de processamento (multiplicador + somador em pipeline) faz as 8 multiplicações da filtragem e as 8 da atualização. μ = 2⁻³ é um deslocamento de 3 bits, sem multiplicador. Saída do estágio: r_lms = Σe²/Σd², a fração do sinal que o LMS não consegue prever — vira característica da árvore. Estabilidade: μ pequeno e pesos zerados no início de cada janela; o erro é saturado em Q1.15, como no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LMS — controle e tempo (1,5 min). Perguntas 4 e 5. O controle é um contador de 26 ciclos: ciclo 0 carrega a amostra e zera o acumulador; ciclos 1 a 8 fazem a filtragem (um tap por ciclo); no ciclo 12 y(n) e e(n) estão prontos; ciclos 13 a 20 atualizam os 8 pesos; 21 a 25 esvaziam o pipeline de escrita. Pergunta 4: atualizar todos os coeficientes leva 8 ciclos de emissão + 5 de escrita, dentro de uma iteração de 26 ciclos. Pergunta 5: sim, com folga — o LMS_Stage, contando energia e repasse, leva 30 ciclos por amostra (medido: média 30, máximo 31), e uma amostra decimada chega a cada 15 625 ciclos. Mesmo na taxa bruta (1953 ciclos) caberia.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Barramento e MEM_A (1,5 min). O Data Bus Driver recebe o stream que sai do LMS e o entrega, com join, ao MEM_A (ramo FFT) e ao acumulador de coeficientes (ramo de parâmetros): o dado só avança quando os dois aceitam. O MEM_A (Frame_Builder) é um buffer circular de 64 amostras: a FFT consome 64 amostras, mas os quadros andam de 32 em 32 (50% de sobreposição, 10 ms a 3,2 kHz). Cada amostra participa de dois quadros, então ele reapresenta as 32 antigas antes das 32 novas. Uma janela = 32 quadros = 1056 amostras decimadas — a mesma janela usada pelo LMS e pela autocorrelação. 1024 bits em LUT-RAM, sem gastar M10K.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FFT — algoritmo e datapath (2,5 min). Radix-2 por decimação no tempo (DIT), iterativa e in-place: entrada em ordem de bits invertidos, 6 estágios × 32 butterflies, saída em ordem natural. Por que radix-2 iterativo: é o que menos multiplica por butterfly (4 reais), cabe numa única memória e os endereços saem de deslocamentos e máscaras. Datapath: UMA butterfly reutilizada 192 vezes (4 multiplicadores = 4 DSP, 6 somadores, 6 estágios de pipeline); RAM dual-port de 64 × 32 bits (real e imaginário) — a única memória de dados, dentro do limite de duas; os twiddles W64^k ficam numa ROM de 32 × 32 bits (só os 32 que a DIT usa). A magnitude é estimada por alpha-max + beta-min (max + 3/8·min): só somas e deslocamentos, erro máximo de 6,8%, que não muda a ordem dos picos. No diagrama do grupo estava DIF; mantivemos a DIT porque já estava verificada bit a bit — trocar mudaria o arredondamento e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FFT — controle e alternativas (2 min). Cada butterfly precisa de 2 leituras e 2 escritas; com 2 portas, são 2 ciclos: fase 0 lê (portas A e B), fase 1 escreve. A latência leitura→escrita é de 7 ciclos (1 da RAM + 6 da butterfly). Como 7 é ímpar, leitura e escrita nunca disputam as portas — por isso a butterfly tem exatamente 6 estágios. Dentro de um estágio os pares (p, q) são disjuntos, então não há conflito; entre estágios o pipeline é esvaziado. Medido: 636 ciclos por quadro (carga + cálculo + descarga) = 12,7 µs, contra 10 ms. Comparação de arquiteturas (diferencial): 2 butterflies cortaria pela metade os ciclos mas exige 4 portas de memória; totalmente paralela seria 768 multiplicadores. Pergunta 1 (256 pontos): 8 estágios × 128 butterflies = 1024 butterflies (5,3× mais), ~2,6 mil ciclos — ainda cabe; memória 4× maior (256 × 32 bits, ainda 1 M10K); resolução de 12,5 Hz por bin, separando melhor BPFO/BPFI; mas a janela passa a 80 ms e a CNN teria de ser retreinada para 128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MEM_B e bandas (1,5 min). O MEM_B (Spectrum_Accumulator) soma |X[k]| dos 32 quadros da janela e entrega o espectro médio de 32 bins; a média é um deslocamento de 5 bits, sem divisor. Esse espectro vai, por um Stream_Fork, para dois consumidores: o detector de picos (MDC) e o Feature_Spectral, que calcula as 8 características espectrais. Seis delas são razões pela energia total — não dependem da amplitude absoluta, e é por isso que a árvore aguenta a variação de carga melhor que a CNN. As bandas cobrem as frequências de rolamento (BPFO 179 Hz e BPFI 272 Hz caem na banda 200–400 Hz). Um único divisor por restauração é compartilhado nas 7 divisões; log2 por Mitchell. 128 ciclos do fim do espectro à primeira característica.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Picos e MDC (2,5 min). O detector de picos varre os bins 1 a 31 do espectro médio e guarda os 3 maiores acima de um limiar configurável (PICO_LIMIAR); envia os índices em sequência, com valid/ready. O MDC usa Euclides por subtrações: dois registradores A e B, um comparador e dois subtratores; a cada ciclo o maior recebe a diferença; quando A = B, esse é o MDC. Com 3 índices: k0 = MDC(MDC(a,b),c). FSM: IDLE, RECV (recebe índice), GCD (subtrai), FINALIZE (testa erro) e OUT (valid). Índice zero é ignorado; resultado abaixo de MDC_MIN ou sem picos acende o erro; um contador de iterações (watchdog) limita o pior caso a ~68 ciclos por par. Exemplo do enunciado: MDC(12, 18, 30) = 6 — reproduzido no tb_MDC_Chain. O f0_estimator calcula f0 = k0 · fs / N; como N = 64 é potência de 2, a divisão é um deslocamento. Na placa: f0 = 50 Hz nas 12 janelas, a rotação real. Latência medida: 25 ciclos do fim do espectro até f0. Limite: rolamento não é harmônico — fica com a árvore.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Autocorrelação (1,5 min). É o "coefficient accumulator" do diagrama. Calcula r[k] = Σ x[n]·x[n−k] para k = 0..3 sobre as 1056 amostras e normaliza rho[k] = r[k]/r[0] em Q1.15. Arquitetura em fluxo: a versão original guardava 64 amostras num registrador de deslocamento; com 1056 amostras isso custaria ~17 mil flip-flops, então reescrevemos em streaming — só guarda as 3 últimas amostras e acumula a cada chegada. Dois multiplicadores reutilizados: em um ciclo r0/r1, no seguinte r2/r3. Acumuladores de 48 bits (produtos plenos de 32 bits × 1056). A normalização usa o fixed_point_divider por restauração (1 bit por ciclo). rho1..rho3 vão para a árvore e para o Yule-Walker. 440 ciclos depois da última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Gauss-Jordan (2,5 min) — pergunta 2. O sistema linear vem do próprio sensor: as equações de Yule-Walker R·a = r, com R a matriz de Toeplitz 3×3 dos rho. O Yule_Walker_Solver monta R e carrega no inversor um elemento por ciclo; o gauss_jordan_inv inverte (aceita até 4×4); o solver calcula a = R⁻¹·r com um MAC (9 produtos, 2 ciclos cada). Organização: memória [A | I] de 4 × 8 palavras + vetor de permutação de linhas. Sequência por coluna k: acha o pivô (maior |a| da coluna, pivotamento parcial), testa, troca linhas, calcula 1/pivô com o divisor, normaliza a linha, elimina nas outras. Pergunta 2: se |pivô| &lt; EPSILON, sinaliza singular e os coeficientes saem zerados (mesma convenção do Python); divisão por zero vai para o estado ERROR. Ponto fixo: medimos no dataset número de condição até ~66 e |R⁻¹| até ~16 — o Q4.12 original saturava (±8), por isso usamos Q8.16; erro de no máximo 1 LSB contra numpy.linalg.solve. Um multiplicador compartilhado entre normalização e eliminação. 245 ciclos para a 3×3.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RegFile e árvore (2 min) — itens do 3.5. O Parameter RegFile junta as características que chegam em momentos diferentes (o MDC e o LMS terminam muito antes da inversão): aceita cada palavra uma vez, em qualquer ordem, e só entrega quando as 16 posições estão cheias — a árvore sempre vê um vetor coerente de uma única janela. Entradas: 16 (8 espectrais, r_lms, rho1..3, f0, a1..a3); a ROM atual usa as posições 0..11 (foi treinada assim) e as outras chegam ao classificador como o enunciado pede. Saída: 2 bits de classe + valid. "Pesos": 141 nós de 32 bits numa ROM. Operação: só comparação com sinal — sem multiplicador, sem função de ativação; a decisão da classe é a folha alcançada. Execução: carrega o vetor (16 ciclos) e percorre um nível a cada 2 ciclos. Latência medida: 20 ciclos do vetor completo à classe; 15,8 µs da última amostra à classe. Recursos: 0 DSP, 1 bloco M10K, ~150 ALMs. Por que serve para FPGA: determinística, sem DSP, minúscula.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FFT à CNN (2,5 min). Ponto central da integração da CNN: a rede foi treinada com espectrogramas gerados em Python, então o hardware precisa montar EXATAMENTE a mesma imagem. Passo a passo: (1) a FFT entrega |X[k]| com o índice k; os bins 0..31 passam por um Stream_Fork que manda a mesma magnitude ao MEM_B e ao ramo CNN. (2) FFT_Log2_Compress aplica log2 de Mitchell: m = |X|+1, e = posição do 1 mais significativo (priority encoder), pixel = e·2048 + ((m − 2^e) ≪ 11) ≫ e — sem multiplicador, 1 ciclo, o mesmo erro que o Python cometeu no treino. (3) Spectrogram_Buffer: os dados CHEGAM por quadro (32 bins de um instante) e precisam SAIR por linha (um bin ao longo dos 32 instantes): é uma transposição numa memória 32×32×16 bits (2 M10K). (4) Quando o 32º quadro chega, ele entrega os 1024 pixels em ordem raster, 1 por ciclo, com valid/ready, para o CNN_Top. Uma imagem cobre as mesmas 1056 amostras da árvore: os dois classificadores olham para o mesmo trecho.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da CNN (2,5 min). Entrada 32×32×1 em ordem raster. CNN_Line_Buffer: 2 linhas guardadas geram a janela 3×3 com padding 1 (zeros gerados nas bordas, sem memória extra). CNN_Conv_Layer: 8 filtros 3×3, stride 1 — 8 MACs em paralelo, um por filtro, cada um percorrendo os 9 taps (9 ciclos por janela); pesos da CNN_Weight_ROM, endereçada por tap. CNN_ReLU: reescala Q2.30 → Q1.15 com arredondamento, satura e aplica ReLU — que é só um mux pelo bit de sinal. CNN_MaxPool 2×2 / stride 2 em streaming: guarda só meia linha de máximos parciais (16 palavras por canal). CNN_Dense_Classifier: média global (GAP) acumulada em streaming e dividida por 256 com um deslocamento; densa 8→4 com UM MAC reutilizado 32 vezes; argmax (empate = menor índice) — sem softmax, porque não muda qual score é o maior. CNN_Control_FSM coordena IDLE → STREAM → DRAIN → DENSE → FINISH. Contagem: 73 728 multiplicações na conv + 32 na densa.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buffer e paralelismo (2,5 min) — perguntas 6 e 7. Pergunta 7: os pixels chegam linha a linha; guardando só as 2 últimas linhas, quando o pixel (r, c) entra os pixels (r−1, c) e (r−2, c) já estão guardados e a coluna da janela fica pronta. Cada pixel é lido UMA vez: 1024 acessos em vez de 9216 (9×), com 2 × 33 palavras de memória em vez da imagem inteira. O padding sai de graça: na coluna 0 as colunas antigas são zeradas, e a varredura vai até 33×33 empurrando zeros. Pergunta 6: totalmente paralela = 72 multiplicadores, ~1024 ciclos, mas não cabe (o chip tem 66 DSPs e a FFT/LMS também precisam); um único MAC = 1 DSP, mas 73 728 ciclos (1,5 ms). Escolhemos paralelo no filtro e serial no tap: os 8 filtros leem a MESMA janela, então processá-los juntos reaproveita o dado sem custo de memória; 8 DSPs e 9216 ciclos. MAC: 3 estágios (registra entradas, registra produto, acumula) para inferir o DSP e fechar 50 MHz; acumulador de 40 bits; flags first/last viajam com o dado, o bias entra como valor inicial — sem ciclo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 e memória da CNN (1,5 min). A FSM tem 5 estados: IDLE (ready, zera line buffers, pooling e GAP na saída), STREAM (avança a varredura só quando a conv aceita E há pixel válido — esse AND é o que evita perda ou sobrescrita), DRAIN (espera conv → ReLU → pooling esvaziarem), DENSE (32 MACs da densa) e FINISH (pulsa done e valid). Armazenamento dos mapas: nenhum mapa é guardado inteiro. O mapa 32×32×8 da conv passa direto para o pooling; o pooling guarda meia linha de máximos (16 × 8 palavras = 2 kbit em vez de 8192 palavras); a GAP guarda 8 acumuladores. Contagem medida: 9 332 ciclos (8 968 lendo os pixels + 361 até a classe). Gargalo: a convolução — 9 ciclos por janela e o maior uso de DSP do projeto. Limitação conhecida: a GAP descarta EM QUE frequência está a energia; trocá-la por média só no tempo (densa 128×4) daria ~94% balanceada em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HDL (2 min) — entregável 6.5. À esquerda, o estado GCD do mdc_gcd (módulo numérico): lógica sequencial da FSM com o datapath de Euclides; o watchdog limita o laço a um número fixo de iterações, nada depende de laços de software. À direita, o CNN_ReLU (módulo de ML): lógica puramente combinacional — reescala com arredondamento, satura e aplica ReLU com um mux pelo bit de sinal. Pontos de sintetizabilidade em todo o projeto: interface com clk, reset, start, valid/ready, busy e done; parâmetros (WIDTH, FRAC, N...) — a parametrização é um diferencial; laços com limite fixo; nenhuma estrutura de software. Verificado no Quartus (compila sem latch, fecha 50 MHz), no Yosys (0 problemas) e no Verilator (0 erros).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Simulação (2,5 min) — entregável 6.6. 39 testbenches auto-verificáveis, todos aprovados; um testbench só passa se não há linha de falha, todo contador de erro é zero e aparece a frase de sucesso. Entradas: janelas REAIS do dataset geradas pelo Python, e os resultados esperados vêm do modelo bit-exato — por isso a maioria compara bit a bit. Testamos de baixo para cima: aritmética, depois cada bloco, depois o sistema; assim um erro de arredondamento aparece no teste do multiplicador e não como uma classe errada. Casos de borda: matriz singular, pivô zero, entrada zero no MDC, ausência de picos, contrapressão aleatória nos handshakes, reuso sem reset. Análise de erro ponto fixo × flutuante (diferencial): CNN 0,02% de imagens com classe diferente; árvore 0,15%; Yule-Walker ≤ 1 LSB; a magnitude alpha-max beta-min erra até 6,8% mas preserva a ordem dos picos. O tb_Equivalencia prova que a versão final dá exatamente o mesmo resultado da versão gravada na placa. Mostrar as ondas no ModelSim: do ../sim/modelsim/sim_latencia.do.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(2 min). Números do relatório do Quartus 20.1 para a DE0-CV (5CEBA4F23C7). O projeto inteiro usa 56% das ALMs, 66% dos blocos M10K (quase todos pela ROM do dataset do simulador do sensor — 200 dos 203) e 36% dos DSPs. Timing: slack de setup de +2,96 ns no modelo lento a 85 °C, ou seja Fmax de 58,7 MHz — fecha 50 MHz com folga. Quem mais usa lógica: FFT e CNN. Quem mais usa DSP: CNN (9). O caminho crítico está nos multiplicadores largos (24×24 do Gauss-Jordan e MAC do Yule-Walker). Consumo de potência não foi medido na placa; a estimativa pode ser feita com o PowerPlay do Quartus.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Mapeamento na placa (1,5 min). Entradas: KEY0 = reset (passa por 2 registradores de sincronização), KEY1 = processa uma janela, SW[3:0] = qual das 12 janelas, SW8 = mostra a f0 do MDC em Hz, SW9 = troca os LEDs para os scores da CNN. Saídas: HEX0 = classe da árvore, HEX1 = classe da CNN, HEX2 = classe verdadeira, HEX3 = "E" se houve erro na árvore ou saturação no FIR, HEX5:4 = número da janela. LEDs: 0–3 classe da árvore em one-hot; 4 árvore certa; 5 CNN certa; 6 árvore = CNN; 7 o modelo Python acerta esta janela; 8 ocupado; 9 resultado válido. Um único relógio, CLOCK_50, sem PLL.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(2 min). Roteiro: KEY0 para resetar; escolher a janela nas chaves; KEY1; LEDR8 acende por ~0,33 s (a fonte reproduz a janela na taxa real do sensor) e LEDR9 acende com o resultado. Não é preciso resetar entre janelas. A tabela é o que a placa deve mostrar, obtida da simulação ponta a ponta com o mesmo RTL — inclusive os erros. Janela 8 (normal a 4 N·m): a árvore diz desbalanceamento; o modelo Python também erra essa janela, então é um erro do modelo reproduzido fielmente pelo hardware (LEDR7 apagado mostra isso). Janela 5: a CNN erra. Com SW8 ligado a placa mostra f0 = 50 Hz em todas: a rotação real de 3010 rpm. Plano B: vídeo gravado e a ficha docs/SMMA_casos_de_teste_placa.pdf.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de projeto (2 min) — entregável 6.8 e perguntas 8, 9 e 11. Paralelos: os três ramos depois do barramento e os 8 filtros da convolução. Compartilhados: dentro de cada módulo (multiplicador do FIR 63×, PE do LMS 16×, butterfly 192×, MAC da densa 32×, um divisor por bloco, multiplicador do Gauss-Jordan). Pergunta 8: a CNN é quem mais usa multiplicadores (9 DSP), seguida da FFT (4). Pergunta 9: compartilhar entre FFT, LMS e CNN não compensa aqui — eles trabalham ao mesmo tempo (o LMS a cada amostra, a FFT a cada quadro, a CNN no fim), então dividir exigiria arbitragem, muxes e serializaria o que hoje é paralelo; e usamos só 24 dos 66 DSPs. O compartilhamento rende dentro de cada módulo, onde o recurso fica ocioso a maior parte do tempo. Gargalo: CNN (9 332 ciclos e 9 DSPs). Pergunta 11: sim — cada quadro novo (10 ms) é transformado em 12,7 µs; a decisão sai 0,2 ms depois da última amostra. Otimizações: densa com média só no tempo (+11 pontos de acurácia na validação), pesos de 8 bits (metade da memória), clock gating dos ramos ociosos entre janelas, FIR simétrico (32 multiplicações).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(1,5 min). Acurácia no conjunto de teste (4 021 janelas nunca vistas no treino), calculada em ponto fixo — exatamente o que a FPGA calcula: árvore 93,2% (balanceada 90,1%), CNN 83,2% (balanceada 82,1%). A árvore vence porque suas características são razões pela energia (robustas à carga) e incluem a informação de frequência que a GAP da CNN descarta. Na placa, as 12 janelas: 11/12 na árvore e 10/12 na CNN, idêntico ao previsto. Tempo: uma janela dura 332 ms porque o simulador reproduz o sensor na taxa real; o processamento depois da última amostra leva 0,2 ms (caminho da árvore 15,8 µs, da CNN 187 µs). Recursos: 56% das ALMs, 66% dos M10K, 36% dos DSPs; fecha a 50 MHz com Fmax de 58,7 MHz. Potência não foi medida.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Conclusões (1 min). Feche com a mensagem central: o algoritmo foi modelado para hardware de forma que o resultado da placa é previsível pelo modelo. Abra para perguntas; o slide seguinte tem as respostas curtas das 11 perguntas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para a sessão de perguntas. Combinem antes quem responde cada uma (a nota AT é individual). Respostas detalhadas estão nas notas dos slides indicados.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914400"/>
            <a:ext cx="3108960" cy="3108960"/>
          </a:xfrm>
          <a:prstGeom prst="ellipse">
            <a:avLst/>
          </a:prstGeom>
          <a:solidFill>
            <a:srgbClr val="12232B">
              <a:alpha val="0"/>
            </a:srgbClr>
          </a:solidFill>
          <a:ln w="15875">
            <a:solidFill>
              <a:srgbClr val="870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1371600"/>
            <a:ext cx="2194560" cy="2194560"/>
          </a:xfrm>
          <a:prstGeom prst="ellipse">
            <a:avLst/>
          </a:prstGeom>
          <a:solidFill>
            <a:srgbClr val="12232B">
              <a:alpha val="0"/>
            </a:srgbClr>
          </a:solidFill>
          <a:ln w="15875">
            <a:solidFill>
              <a:srgbClr val="870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828800"/>
            <a:ext cx="1280160" cy="1280160"/>
          </a:xfrm>
          <a:prstGeom prst="ellipse">
            <a:avLst/>
          </a:prstGeom>
          <a:solidFill>
            <a:srgbClr val="12232B">
              <a:alpha val="0"/>
            </a:srgbClr>
          </a:solidFill>
          <a:ln w="15875">
            <a:solidFill>
              <a:srgbClr val="870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37776" y="2185416"/>
            <a:ext cx="566928" cy="566928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DIGITAIS IV · PBL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64008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SMMA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Machine Monitoring Accelerator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6949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algoritmo de diagnóstico de falhas em motores virou hardware: do dataset à placa DE0-CV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______________________________    ·    Apresentação: 28/08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mostrar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545336"/>
            <a:ext cx="4297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fluxo de projeto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objetivo e como transformamos o algoritmo em hardware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688336"/>
            <a:ext cx="4297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treinamento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3017520"/>
            <a:ext cx="4343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tratamento em Python e como viram pesos da CNN e da árvore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703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831336"/>
            <a:ext cx="4297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160520"/>
            <a:ext cx="4343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Diagrama, controle global, handshaking, execução e ponto fixo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846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4974336"/>
            <a:ext cx="4297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processamento de sinais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5303520"/>
            <a:ext cx="4343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do sensor, FIR, LMS, barramento, FFT, picos e MDC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17920" y="1417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1545336"/>
            <a:ext cx="4297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Estimação de parâmetros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Autocorrelação e inversão de matriz por Gauss-Jordan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17920" y="2560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46520" y="2788920"/>
            <a:ext cx="502920" cy="502920"/>
          </a:xfrm>
          <a:prstGeom prst="ellipse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2688336"/>
            <a:ext cx="4297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Classificadores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3017520"/>
            <a:ext cx="4343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RegFile, árvore de decisão e CNN detalhada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17920" y="3703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132320" y="3831336"/>
            <a:ext cx="4297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 resultados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0" y="4160520"/>
            <a:ext cx="4343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simulação, síntese, placa, decisões e números finais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17920" y="4846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446520" y="4919472"/>
            <a:ext cx="50292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condutor: uma janela de 332 ms de vibração percorre o sistema até virar uma classe no display da placa.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CONTEXTO E FLUXO DE PROJETO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objetivo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74520"/>
            <a:ext cx="475488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sujeitos a desbalanceamento, desalinhamento e desgaste de rolamento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dados vão a um PC externo → latência, consumo de energia e dependência da rede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Pedido: um acelerador em FPGA que adquire, processa e classifica localmente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Restrições: 50 MHz, ponto fixo, DSPs limitados, uma janela nova a cada 10 ms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4 CLASSES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513892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2D9E6"/>
          </a:solidFill>
          <a:ln>
            <a:solidFill>
              <a:srgbClr val="F2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normal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64208" y="51389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D9E6"/>
          </a:solidFill>
          <a:ln>
            <a:solidFill>
              <a:srgbClr val="F2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desbalanceamento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45536" y="513892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2D9E6"/>
          </a:solidFill>
          <a:ln>
            <a:solidFill>
              <a:srgbClr val="F2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desalinhamento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89704" y="51389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D9E6"/>
          </a:solidFill>
          <a:ln>
            <a:solidFill>
              <a:srgbClr val="F2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rolamento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1371600"/>
            <a:ext cx="56692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17220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17920" y="192024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0" y="192024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058400" y="1920240"/>
            <a:ext cx="132588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externo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589520" y="2240280"/>
            <a:ext cx="6400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601200" y="2240280"/>
            <a:ext cx="4572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17220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— SMMA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17920" y="3337560"/>
            <a:ext cx="1371600" cy="731520"/>
          </a:xfrm>
          <a:prstGeom prst="roundRect">
            <a:avLst>
              <a:gd name="adj" fmla="val 8750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Xa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138160" y="3246120"/>
            <a:ext cx="3246120" cy="914400"/>
          </a:xfrm>
          <a:prstGeom prst="roundRect">
            <a:avLst>
              <a:gd name="adj" fmla="val 7000"/>
            </a:avLst>
          </a:prstGeom>
          <a:solidFill>
            <a:srgbClr val="E8EAF6"/>
          </a:solidFill>
          <a:ln w="15875">
            <a:solidFill>
              <a:srgbClr val="283593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DE0-CV (SMMA)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· FFT · LMS · matriz · árvore · CNN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589520" y="3703320"/>
            <a:ext cx="54864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756648" y="4160520"/>
            <a:ext cx="914" cy="45720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8778240" y="4617720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no display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544068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0,2 ms após a última amostra, sem rede e sem PC.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CONTEXTO E FLUXO DE PROJETO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algoritmo ao hardware: como modelamos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298448" y="1691640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= especificação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FIR, FFT, log2 e features escritos em inteiros, como o hardware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624328" y="2670048"/>
            <a:ext cx="192024" cy="914"/>
          </a:xfrm>
          <a:prstGeom prst="line">
            <a:avLst/>
          </a:prstGeom>
          <a:noFill/>
          <a:ln w="25400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34640" y="15087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84448" y="1691640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944368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ciente do hardware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944368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Q1.15, saturação e quantização já no treino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910328" y="2670048"/>
            <a:ext cx="192024" cy="914"/>
          </a:xfrm>
          <a:prstGeom prst="line">
            <a:avLst/>
          </a:prstGeom>
          <a:noFill/>
          <a:ln w="25400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120640" y="15087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70448" y="1691640"/>
            <a:ext cx="548640" cy="548640"/>
          </a:xfrm>
          <a:prstGeom prst="ellipse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230368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pesos, limiares e coeficientes viram .hex e ROM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196328" y="2670048"/>
            <a:ext cx="192024" cy="914"/>
          </a:xfrm>
          <a:prstGeom prst="line">
            <a:avLst/>
          </a:prstGeom>
          <a:noFill/>
          <a:ln w="25400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406640" y="15087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156448" y="1691640"/>
            <a:ext cx="548640" cy="548640"/>
          </a:xfrm>
          <a:prstGeom prst="ellipse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516368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+ testbench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516368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comparado bit a bit com o modelo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482328" y="2670048"/>
            <a:ext cx="192024" cy="914"/>
          </a:xfrm>
          <a:prstGeom prst="line">
            <a:avLst/>
          </a:prstGeom>
          <a:noFill/>
          <a:ln w="25400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692640" y="15087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0442448" y="1691640"/>
            <a:ext cx="548640" cy="548640"/>
          </a:xfrm>
          <a:prstGeom prst="ellipse">
            <a:avLst/>
          </a:prstGeom>
          <a:solidFill>
            <a:srgbClr val="F2A33A"/>
          </a:solidFill>
          <a:ln>
            <a:solidFill>
              <a:srgbClr val="F2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802368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Quartus + placa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802368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síntese, timing a 50 MHz e demonstração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22960" y="4160520"/>
            <a:ext cx="10607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projeto: o hardware calcula exatamente o que o Python calcula — mesmo arredondamento, mesma saturação, mesma ordem das operações.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548640" y="521208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640080" y="5285232"/>
            <a:ext cx="3383280" cy="528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39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5768950"/>
            <a:ext cx="3383280" cy="3648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testbenches aprovados, a maioria bit a bit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297680" y="521208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4389120" y="5285232"/>
            <a:ext cx="3383280" cy="528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0,02 %</a:t>
            </a:r>
            <a:endParaRPr lang="en-US" sz="24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5768950"/>
            <a:ext cx="3383280" cy="3648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float × ponto fixo na CNN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046720" y="521208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138160" y="5285232"/>
            <a:ext cx="3383280" cy="528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2400" dirty="0"/>
          </a:p>
        </p:txBody>
      </p:sp>
      <p:sp>
        <p:nvSpPr>
          <p:cNvPr id="42" name="Text 39"/>
          <p:cNvSpPr txBox="1"/>
          <p:nvPr/>
        </p:nvSpPr>
        <p:spPr>
          <a:xfrm>
            <a:off x="8138160" y="5768950"/>
            <a:ext cx="3383280" cy="3648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certas na placa = previsto no Python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DADOS E TREINAMENTO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dataset: como os dados estão organizados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48463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BANCADA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28800"/>
            <a:ext cx="45720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3 HP a 3010 rpm (50,17 Hz), mancais A e B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de 0, 2 e 4 N·m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inseridas junto ao mancal 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acelerômetros a 25,6 kHz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383280"/>
          <a:ext cx="4389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 x do mancal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 y do mancal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 x do mancal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 y do mancal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77240" y="4983480"/>
            <a:ext cx="44348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o Xa: é onde o desbalanceamento aparece (pico em 50 Hz) e só um canal cabe na memória da placa.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0" y="1371600"/>
            <a:ext cx="59436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897880" y="1536192"/>
            <a:ext cx="5577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ARQUIVOS = 3 CARGAS × 15 CONDIÇÕES → 4 CLASSES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874520"/>
          <a:ext cx="5486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17320"/>
                <a:gridCol w="150876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*_Normal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desbalanceamento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*_Unbalance_*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 a 3318 mg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~1800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desalinhamento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*_Misalign_*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/ 0,3 / 0,5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~1080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rolamento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*_BPFI_* e *_BPFO_*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trincas 0,3 / 1 / 3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5897880" y="406908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5989320" y="4142232"/>
            <a:ext cx="1554480" cy="528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 kHz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989320" y="4625950"/>
            <a:ext cx="1554480" cy="3648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772400" y="406908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7863840" y="4142232"/>
            <a:ext cx="1554480" cy="528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 GB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4625950"/>
            <a:ext cx="1554480" cy="3648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CSV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646920" y="406908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9738360" y="4142232"/>
            <a:ext cx="1554480" cy="528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27 649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9738360" y="4625950"/>
            <a:ext cx="1554480" cy="3648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(imagens)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897880" y="5257800"/>
            <a:ext cx="5486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classes estão desbalanceadas (3× mais desbalanceamento que normal): o treino usa peso inverso à frequência de cada classe.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DADOS E TREINAMENTO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Tratamento: do sinal bruto à entrada dos modelos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±32 g → Q1.15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0" y="193852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2514600" y="150876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63 taps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1,4 kHz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51960" y="193852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4480560" y="150876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Decimação ÷8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 → 3,2 kHz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193852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6446520" y="150876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64 pts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32 amostras (10 ms)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83880" y="193852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8412480" y="150876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|X| bins 0..31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 por bin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372600" y="2377440"/>
            <a:ext cx="914" cy="5029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0" y="2880360"/>
            <a:ext cx="47548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0" y="2880360"/>
            <a:ext cx="914" cy="2743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0607040" y="2880360"/>
            <a:ext cx="914" cy="2743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4206240" y="31546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(Mitchell) → imagem 32×32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= frequência, coluna = tempo (320 ms)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778240" y="3154680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características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espectrais + r_lms + rho1..3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20624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CNN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7824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árvore de decisão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77240" y="4709160"/>
            <a:ext cx="10058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POR TEMPO DENTRO DE CADA ARQUIVO (0,5 s DE GUARDA ENTRE AS FATIAS)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7240" y="5074920"/>
            <a:ext cx="7370064" cy="457200"/>
          </a:xfrm>
          <a:prstGeom prst="rect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70 % · 19 607 janelas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02168" y="5074920"/>
            <a:ext cx="1536192" cy="457200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· 4 021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793224" y="5074920"/>
            <a:ext cx="1536192" cy="457200"/>
          </a:xfrm>
          <a:prstGeom prst="rect">
            <a:avLst/>
          </a:prstGeom>
          <a:solidFill>
            <a:srgbClr val="F2A33A"/>
          </a:solidFill>
          <a:ln>
            <a:solidFill>
              <a:srgbClr val="F2A3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· 4 021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janela de teste tem amostras vistas no treino. As 12 janelas da placa vêm do teste.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DADOS E TREINAMENTO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do treino em Python aos pesos na ROM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15% · quantização (diferencial)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6576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CIENTE DO HARDWARE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28800"/>
            <a:ext cx="33832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rede do RTL: conv 3×3 ×8 → ReLU → maxpool → média global → densa 8×4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limitados a [−1, 1) após cada passo (cabem em Q1.15)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 simulada no forward (QAT)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Saturação nos mesmos pontos do RTL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escolhido pela validação calculada no modelo bit-exato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34840" y="137160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63440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(PASSO 05)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92024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pesos_16b.npz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inteiros Q1.15 (116 parâmetros)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2514600"/>
            <a:ext cx="914" cy="2743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846320" y="278892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CNN_Weight_ROM.v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= tap (0..8) → 8 pesos × 16 bits = 128 bits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3611880"/>
            <a:ext cx="914" cy="2743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4846320" y="388620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golden_model_cnn.py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bit a bit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0" y="4480560"/>
            <a:ext cx="914" cy="2743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4846320" y="475488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vetores/*.hex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dos testbenches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617720" y="5486400"/>
            <a:ext cx="3200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pesos + 8 bias (conv) · 32 pesos + 4 bias (densa)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0" y="137160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45820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 (TESTE, PONTO FIXO)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1874520"/>
          <a:ext cx="29260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43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 (ROM)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 arredond.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 QAT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bits arredond.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bits QAT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8458200" y="4023360"/>
            <a:ext cx="2971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mantém a acurácia com metade da memória; 4 bits perde ~13 pontos.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458200" y="4846320"/>
            <a:ext cx="2971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× ponto fixo discordam em só 0,02 % das imagens.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DADOS E TREINAMENTO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decisão: do Python à ROM de nós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ML 10%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CARACTERÍSTICAS (MESMA JANELA)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33375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(8)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r_1x, r_2x, r_3x, 3 bandas, log2E, centroide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 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r_lms = Σe² / Σd²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autocorr. (3)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rho1, rho2, rho3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77240" y="4069080"/>
            <a:ext cx="3337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Razões pela energia total: não dependem da amplitude do sinal.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846320"/>
            <a:ext cx="3337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9 · 141 nós · limiares em Q1.15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26280" y="137160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754880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× SVM (MESMO TESTE)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874520"/>
          <a:ext cx="31546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1440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SVM-RBF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multipl./decisão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22 452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44,9 kB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ciclos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 mil ciclos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4754880" y="3931920"/>
            <a:ext cx="3154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Escolhida a árvore: só comparações, 0 DSP, cabe em 1 bloco de memória.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4846320"/>
            <a:ext cx="3154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× Q1.15 discordam em 0,15 % das janelas.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21040" y="1371600"/>
            <a:ext cx="3291840" cy="4754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549640" y="153619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NÓ = 32 BITS (arvore.hex)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503920" y="1965960"/>
            <a:ext cx="411480" cy="411480"/>
          </a:xfrm>
          <a:prstGeom prst="rect">
            <a:avLst/>
          </a:prstGeom>
          <a:solidFill>
            <a:srgbClr val="12232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915400" y="1965960"/>
            <a:ext cx="685800" cy="411480"/>
          </a:xfrm>
          <a:prstGeom prst="rect">
            <a:avLst/>
          </a:prstGeom>
          <a:solidFill>
            <a:srgbClr val="870E4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30:27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601200" y="1965960"/>
            <a:ext cx="9144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26:11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515600" y="1965960"/>
            <a:ext cx="685800" cy="411480"/>
          </a:xfrm>
          <a:prstGeom prst="rect">
            <a:avLst/>
          </a:prstGeom>
          <a:solidFill>
            <a:srgbClr val="F2A33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2514600"/>
            <a:ext cx="306324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31 = 1: folha, classe nos bits 1:0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≤ limiar → filho esquerdo = nó seguinte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&gt; limiar → filho direito (endereço gravado)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54964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nós × 32 bits = 564 B de ROM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549640" y="4892040"/>
            <a:ext cx="29260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RTL lê um nó por ciclo e compara com sinal.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ARQUITETURA GERAL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 do SMMA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 25%</a:t>
            </a:r>
            <a:endParaRPr lang="en-US" sz="1100" dirty="0"/>
          </a:p>
        </p:txBody>
      </p:sp>
      <p:pic>
        <p:nvPicPr>
          <p:cNvPr id="8" name="Image 0" descr="arq_sem_tit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11384280" cy="4085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ARQUITETURA GERAL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global e handshaking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 25%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DO CONTROLE GLOBAL (SMMA_Global_Control)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057400"/>
            <a:ext cx="1463040" cy="685800"/>
          </a:xfrm>
          <a:prstGeom prst="ellipse">
            <a:avLst/>
          </a:prstGeom>
          <a:solidFill>
            <a:srgbClr val="F2D9E6"/>
          </a:solidFill>
          <a:ln w="19050"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83280" y="2057400"/>
            <a:ext cx="14630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83280" y="3520440"/>
            <a:ext cx="14630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4892040"/>
            <a:ext cx="14630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892040"/>
            <a:ext cx="14630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377440" y="2395728"/>
            <a:ext cx="1005840" cy="914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01168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KEY1 e todos prontos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0" y="2743200"/>
            <a:ext cx="914" cy="777240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20624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ciclo: start único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0" y="4206240"/>
            <a:ext cx="914" cy="685800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206240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quadros (fb_done)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 flipH="1">
            <a:off x="2377440" y="5230368"/>
            <a:ext cx="1005840" cy="914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011680" y="5596128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e CNN válidas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 flipV="1">
            <a:off x="1645920" y="2743200"/>
            <a:ext cx="914" cy="2148840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86868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ciclo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492240" y="1536192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READY COM JOIN (Stream_Fork)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83680" y="233172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 o dado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2331720"/>
            <a:ext cx="1188720" cy="822960"/>
          </a:xfrm>
          <a:prstGeom prst="roundRect">
            <a:avLst>
              <a:gd name="adj" fmla="val 7778"/>
            </a:avLst>
          </a:prstGeom>
          <a:solidFill>
            <a:srgbClr val="ECEFF1"/>
          </a:solidFill>
          <a:ln w="15875">
            <a:solidFill>
              <a:srgbClr val="455A64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dos ready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058400" y="196596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058400" y="292608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B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955280" y="2743200"/>
            <a:ext cx="4572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601200" y="260604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9829800" y="2258568"/>
            <a:ext cx="914" cy="347472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829800" y="225856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601200" y="288036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29800" y="2880360"/>
            <a:ext cx="914" cy="338328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829800" y="321868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8" name="Text 35"/>
          <p:cNvSpPr txBox="1"/>
          <p:nvPr/>
        </p:nvSpPr>
        <p:spPr>
          <a:xfrm>
            <a:off x="6446520" y="3749040"/>
            <a:ext cx="502920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só quando valid = 1 e ready = 1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 segura o dado enquanto ready = 0 → sem perda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troca o dado após o aceite → sem sobrescrita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in_ready = AND de todos os ready → todos os ramos recebem o mesmo dado no mesmo ciclo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Sinais: start, busy, done, valid, ready, enable, reset (síncrono, KEY0 com 2 registradores)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ARQUITETURA GERAL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execução dos módulos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 25%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→ LMS → barramento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amostra atravessa os três blocos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55848" y="1417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84448" y="1600200"/>
            <a:ext cx="502920" cy="502920"/>
          </a:xfrm>
          <a:prstGeom prst="ellipse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24528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584448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→ quadro → FFT → espectro → CNN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584448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 pelo handshake, sem esperar a janela inteira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63056" y="1417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91656" y="1600200"/>
            <a:ext cx="502920" cy="502920"/>
          </a:xfrm>
          <a:prstGeom prst="ellipse">
            <a:avLst/>
          </a:prstGeom>
          <a:solidFill>
            <a:srgbClr val="F2A33A"/>
          </a:solidFill>
          <a:ln>
            <a:solidFill>
              <a:srgbClr val="F2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031736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91656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FFT/MDC ‖ parâmetros ‖ CNN; 8 filtros da conv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391656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ramos consomem a mesma janela ao mesmo tempo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970264" y="1417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198864" y="1600200"/>
            <a:ext cx="502920" cy="502920"/>
          </a:xfrm>
          <a:prstGeom prst="ellipse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838944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198864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mult. no FIR, 1 PE no LMS, 1 butterfly na FFT, 1 MAC na densa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recurso reutilizado dentro do módulo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2D9E6"/>
          </a:solidFill>
          <a:ln w="12700">
            <a:solidFill>
              <a:srgbClr val="F2D9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por quadro: 10 ms × 50 MHz = 500 000 ciclos.  </a:t>
            </a:r>
            <a:pPr algn="l" indent="0" marL="0">
              <a:buNone/>
            </a:pPr>
            <a:r>
              <a:rPr lang="en-US" sz="15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FFT de um quadro usa 636 (0,13 %). Entre janelas a execução é sequencial: uma nova só começa com todos os blocos em repouso.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ARQUITETURA GERAL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numérico (ponto fixo)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(6.4)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28016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+ frac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amostras do sensor, coef. do FIR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±32 g = ±1; acumulador de 40 bits, saturação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e twiddles da FFT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÷2 em 4 dos 6 estágios (ganho 1/16) + saturação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|X[k]| e espectro médio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 s/ sinal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alpha-max beta-min; acumulador de 24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coeficientes do LMS, 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Q1.15, μ = 2⁻³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é um deslocamento (sem multiplicador)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energias LMS e autocorrelação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de 1056 produtos de 32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elementos de R e R⁻¹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+ 16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Q4.12 saturava: |R⁻¹| chega a ~16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pesos e ativações da 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de 40 bits, requantiza com saturação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limiares da árvore,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 com sinal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 (Hz)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+ 6 frac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= k0 · fs / N (N potência de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Multiplicação Q1.15 em todo o projeto: sat16((a·b + 2¹⁴) ≫ 15) — arredonda meio-para-cima e satura, igual ao Python.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do sensor Xa (Sample_Source)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 25% · 6.7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65836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1325880" cy="685800"/>
          </a:xfrm>
          <a:prstGeom prst="roundRect">
            <a:avLst>
              <a:gd name="adj" fmla="val 9333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SW[3:0]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0..11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06040" y="1874520"/>
            <a:ext cx="2194560" cy="96012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de amostras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× 8503 × 16 bits = 1,6 Mbit (200 M10K)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48840" y="2350008"/>
            <a:ext cx="4572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2606040" y="329184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÷1953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MHz → 25,6 kHz (tick)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 flipV="1">
            <a:off x="3703320" y="2834640"/>
            <a:ext cx="914" cy="45720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257800" y="187452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Registrador de saída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ready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2350008"/>
            <a:ext cx="4572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080760" y="2834640"/>
            <a:ext cx="914" cy="5029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257800" y="33375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FIR_Decimator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ADC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606040" y="44805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de rótulos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verdadeira + prevista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481328" y="2697480"/>
            <a:ext cx="914" cy="214884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4846320"/>
            <a:ext cx="1124712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800600" y="4846320"/>
            <a:ext cx="4572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5257800" y="45262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SMMA_Panel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HEX2 e LEDR7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440680"/>
            <a:ext cx="6217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amostra só avança quando o FIR aceitou a anterior: nada se perde.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360920" y="1371600"/>
            <a:ext cx="4251960" cy="47548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58952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ASSIM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543800" y="1828800"/>
            <a:ext cx="39319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do Canal1 (Xa), na mesma taxa do sensor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janelas = 4 classes × 3 cargas, todas do TESTE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determinística, sem escolher a dedo: uma delas o modelo erra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valid/ready igual à de um ADC: um sensor real entraria no mesmo lugar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MODO_RAPIDO = 1 só na simulação (ignora a taxa)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589520" y="498348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680960" y="5056632"/>
            <a:ext cx="1645920" cy="528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ms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680960" y="5540350"/>
            <a:ext cx="1645920" cy="3648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janela (8503 amostras)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555480" y="498348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9646920" y="5056632"/>
            <a:ext cx="1645920" cy="528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0,006 %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9646920" y="5540350"/>
            <a:ext cx="1645920" cy="3648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da taxa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anti-alias + decimação ÷8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 25%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DECIMAR (FFT DE 64 PONTOS)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a 25,6 kHz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a 3,2 kHz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rotação 1×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77240" y="4114800"/>
            <a:ext cx="5029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Hz por bin → tudo no bin 0.  50 Hz por bin → cada falha no seu bin.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FIR, o que está acima de 1,6 kHz rebateria por aliasing sobre esses bins.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492240" y="1536192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DATAPATH: 1 MULTIPLICADOR REUTILIZADO 63×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92240" y="201168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atraso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amostras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92240" y="306324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de coef.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× Q1.15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458200" y="251460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DSP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738360" y="251460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40 b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0835640" y="2514600"/>
            <a:ext cx="640080" cy="7315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46720" y="2377440"/>
            <a:ext cx="1828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29600" y="2377440"/>
            <a:ext cx="914" cy="36576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0" y="274320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046720" y="3429000"/>
            <a:ext cx="1828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flipV="1">
            <a:off x="8229600" y="3017520"/>
            <a:ext cx="914" cy="41148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229600" y="301752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9372600" y="2880360"/>
            <a:ext cx="36576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10652760" y="2880360"/>
            <a:ext cx="1828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10195560" y="3246120"/>
            <a:ext cx="914" cy="22860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flipH="1">
            <a:off x="9921240" y="3474720"/>
            <a:ext cx="27432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 flipV="1">
            <a:off x="9921240" y="3264408"/>
            <a:ext cx="914" cy="210312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492240" y="416052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583680" y="4233672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400" dirty="0"/>
          </a:p>
        </p:txBody>
      </p:sp>
      <p:sp>
        <p:nvSpPr>
          <p:cNvPr id="33" name="Text 29"/>
          <p:cNvSpPr txBox="1"/>
          <p:nvPr/>
        </p:nvSpPr>
        <p:spPr>
          <a:xfrm>
            <a:off x="6583680" y="4690872"/>
            <a:ext cx="1417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por saída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211312" y="416052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8302752" y="4233672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15 625</a:t>
            </a:r>
            <a:endParaRPr lang="en-US" sz="2200" dirty="0"/>
          </a:p>
        </p:txBody>
      </p:sp>
      <p:sp>
        <p:nvSpPr>
          <p:cNvPr id="36" name="Text 32"/>
          <p:cNvSpPr txBox="1"/>
          <p:nvPr/>
        </p:nvSpPr>
        <p:spPr>
          <a:xfrm>
            <a:off x="8302752" y="4690872"/>
            <a:ext cx="1417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disponíveis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9930384" y="416052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10021824" y="4233672"/>
            <a:ext cx="1325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0,4 %</a:t>
            </a:r>
            <a:endParaRPr lang="en-US" sz="2400" dirty="0"/>
          </a:p>
        </p:txBody>
      </p:sp>
      <p:sp>
        <p:nvSpPr>
          <p:cNvPr id="39" name="Text 35"/>
          <p:cNvSpPr txBox="1"/>
          <p:nvPr/>
        </p:nvSpPr>
        <p:spPr>
          <a:xfrm>
            <a:off x="10021824" y="4690872"/>
            <a:ext cx="1325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tempo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649224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Saturação na saída acende "E" no HEX3.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em série: do algoritmo ao datapath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10%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931920" cy="4754880"/>
          </a:xfrm>
          <a:prstGeom prst="roundRect">
            <a:avLst>
              <a:gd name="adj" fmla="val 2791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(PREDITOR / ALE)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entrada:   x[n−1]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desejado:  d[n] = x[n]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y(n) = Σ w_i · x(n−1−i)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e(n) = d(n) − y(n)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w_i ← w_i + μ · e(n) · x(n−1−i)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0..7     μ = 2⁻³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r_lms = Σe² / Σd²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257800"/>
            <a:ext cx="3566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e linha de atraso zerados no início de cada janela.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69037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937760" y="1536192"/>
            <a:ext cx="6400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COMPARTILHADO (LMS_Filter_Top)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201168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atraso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x(n−1)…x(n−8)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83480" y="315468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pesos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w0..w7 (Q1.15)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mult. + 1 somador (pipeline)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418320" y="2011680"/>
            <a:ext cx="1965960" cy="777240"/>
          </a:xfrm>
          <a:prstGeom prst="roundRect">
            <a:avLst>
              <a:gd name="adj" fmla="val 8235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y(n) e e(n) = d − 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418320" y="3154680"/>
            <a:ext cx="1965960" cy="777240"/>
          </a:xfrm>
          <a:prstGeom prst="roundRect">
            <a:avLst>
              <a:gd name="adj" fmla="val 8235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μ·e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 ≫ 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720840" y="239572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49440" y="2395728"/>
            <a:ext cx="914" cy="393192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49440" y="278892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720840" y="353872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6949440" y="3154680"/>
            <a:ext cx="914" cy="384048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49440" y="315468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915400" y="278892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9144000" y="2395728"/>
            <a:ext cx="914" cy="393192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0" y="2395728"/>
            <a:ext cx="27432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0396728" y="2788920"/>
            <a:ext cx="914" cy="36576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H="1">
            <a:off x="8229600" y="3749040"/>
            <a:ext cx="1188720" cy="914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29600" y="3749040"/>
            <a:ext cx="914" cy="411480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5852160" y="4160520"/>
            <a:ext cx="2377440" cy="914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5852160" y="3931920"/>
            <a:ext cx="914" cy="228600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59436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w_i + μ·e·x  (fase de atualização)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983480" y="4846320"/>
            <a:ext cx="3017520" cy="822960"/>
          </a:xfrm>
          <a:prstGeom prst="roundRect">
            <a:avLst>
              <a:gd name="adj" fmla="val 7778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(LMS_Control_FSM)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26 ciclos por iteração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21040" y="484632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E8EAF6"/>
          </a:solidFill>
          <a:ln w="15875">
            <a:solidFill>
              <a:srgbClr val="283593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LMS_Stage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repassa a amostra e acumula Σe², Σd² → r_lms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LMS: escalonamento e tempo por amostra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10%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ITERAÇÃO = 26 CICLOS (LMS_Control_FSM)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382641" cy="640080"/>
          </a:xfrm>
          <a:prstGeom prst="rect">
            <a:avLst/>
          </a:prstGeom>
          <a:solidFill>
            <a:srgbClr val="5B6B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23889" y="2057400"/>
            <a:ext cx="3189146" cy="64008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filtragem: 8 taps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31323" y="2057400"/>
            <a:ext cx="11845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34111" y="2057400"/>
            <a:ext cx="382641" cy="640080"/>
          </a:xfrm>
          <a:prstGeom prst="rect">
            <a:avLst/>
          </a:prstGeom>
          <a:solidFill>
            <a:srgbClr val="F2A33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35040" y="2057400"/>
            <a:ext cx="3189146" cy="640080"/>
          </a:xfrm>
          <a:prstGeom prst="rect">
            <a:avLst/>
          </a:prstGeom>
          <a:solidFill>
            <a:srgbClr val="870E4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atualização: 8 pesos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242474" y="2057400"/>
            <a:ext cx="1986358" cy="640080"/>
          </a:xfrm>
          <a:prstGeom prst="rect">
            <a:avLst/>
          </a:prstGeom>
          <a:solidFill>
            <a:srgbClr val="7A8A9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41009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248443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51231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059594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06424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12: y(n) e e(n) prontos (valid_out)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931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" y="4005072"/>
            <a:ext cx="2423160" cy="6789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4647895"/>
            <a:ext cx="2423160" cy="4690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por iteração do LMS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337560" y="3931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29000" y="4005072"/>
            <a:ext cx="2423160" cy="6789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+ 5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4647895"/>
            <a:ext cx="2423160" cy="4690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para atualizar os 8 pesos (pergunta 4)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126480" y="3931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217920" y="4005072"/>
            <a:ext cx="2423160" cy="6789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400" dirty="0"/>
          </a:p>
        </p:txBody>
      </p:sp>
      <p:sp>
        <p:nvSpPr>
          <p:cNvPr id="32" name="Text 29"/>
          <p:cNvSpPr txBox="1"/>
          <p:nvPr/>
        </p:nvSpPr>
        <p:spPr>
          <a:xfrm>
            <a:off x="6217920" y="4647895"/>
            <a:ext cx="2423160" cy="4690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por amostra no LMS_Stage (medido)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915400" y="393192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9006840" y="4005072"/>
            <a:ext cx="2514600" cy="6789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15 625</a:t>
            </a:r>
            <a:endParaRPr lang="en-US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9006840" y="4647895"/>
            <a:ext cx="2514600" cy="4690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entre amostras a 3,2 kHz (pergunta 5)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2D9E6"/>
          </a:solidFill>
          <a:ln w="12700">
            <a:solidFill>
              <a:srgbClr val="F2D9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777240" y="5394960"/>
            <a:ext cx="106070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5: o LMS processa cada amostra em 0,2 % do intervalo até a próxima — mesmo na taxa bruta de 25,6 kHz (1953 ciclos) caberia.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 Driver e MEM_A: dos dados filtrados aos quadros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 25%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 DRIVER (JOIN)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42316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LMS_Stage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out_valid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51760" y="2011680"/>
            <a:ext cx="822960" cy="1645920"/>
          </a:xfrm>
          <a:prstGeom prst="roundRect">
            <a:avLst>
              <a:gd name="adj" fmla="val 7778"/>
            </a:avLst>
          </a:prstGeom>
          <a:solidFill>
            <a:srgbClr val="ECEFF1"/>
          </a:solidFill>
          <a:ln w="15875">
            <a:solidFill>
              <a:srgbClr val="455A64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31920" y="1828800"/>
            <a:ext cx="1371600" cy="731520"/>
          </a:xfrm>
          <a:prstGeom prst="roundRect">
            <a:avLst>
              <a:gd name="adj" fmla="val 875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FFT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31920" y="3108960"/>
            <a:ext cx="1371600" cy="731520"/>
          </a:xfrm>
          <a:prstGeom prst="roundRect">
            <a:avLst>
              <a:gd name="adj" fmla="val 8750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acc.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parâmetros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194560" y="2834640"/>
            <a:ext cx="4572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474720" y="2194560"/>
            <a:ext cx="4572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74720" y="3474720"/>
            <a:ext cx="4572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731520" y="411480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dado, mesmo ciclo, para os dois ramos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in_ready = ready_MEM_A AND ready_acc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ramo processa uma janela diferente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715000" y="1371600"/>
            <a:ext cx="58978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43600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MEM_A (Frame_Builder): QUADROS DE 64, SALTO 32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35040" y="1965960"/>
            <a:ext cx="2103120" cy="365760"/>
          </a:xfrm>
          <a:prstGeom prst="rect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86600" y="2423160"/>
            <a:ext cx="2103120" cy="365760"/>
          </a:xfrm>
          <a:prstGeom prst="rect">
            <a:avLst/>
          </a:prstGeom>
          <a:solidFill>
            <a:srgbClr val="1E88E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38160" y="2880360"/>
            <a:ext cx="2103120" cy="365760"/>
          </a:xfrm>
          <a:prstGeom prst="rect">
            <a:avLst/>
          </a:prstGeom>
          <a:solidFill>
            <a:srgbClr val="42A5F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89720" y="3337560"/>
            <a:ext cx="2103120" cy="365760"/>
          </a:xfrm>
          <a:prstGeom prst="rect">
            <a:avLst/>
          </a:prstGeom>
          <a:solidFill>
            <a:srgbClr val="90CAF9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3886200"/>
            <a:ext cx="539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amostras por quadro · avança 32 (10 ms)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43600" y="434340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035040" y="4416552"/>
            <a:ext cx="155448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6035040" y="4953305"/>
            <a:ext cx="155448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quadros por janela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818120" y="434340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909560" y="4416552"/>
            <a:ext cx="155448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1056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7909560" y="4953305"/>
            <a:ext cx="155448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decimadas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692640" y="434340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9784080" y="4416552"/>
            <a:ext cx="155448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kbit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9784080" y="4953305"/>
            <a:ext cx="155448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circular (LUT-RAM)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943600" y="5532120"/>
            <a:ext cx="5486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Reapresentar um quadro custa 64 ciclos; a próxima amostra chega em 15 625.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de 64 pontos: do algoritmo ao datapath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MDC, FFT e inversão 20%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(RADIX-2 DIT)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bit_reverse_copy(x -&gt; 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s = 1..6:      // 6 estagios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b = 0..31:    // 32 butterflies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(p, q, k) = addr_gen(s, 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   = W64^k * X[q]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X[p] = (X[p] + t) /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X[q] = (X[p] - t) /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|X| = max + 3/8 * min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6177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4736592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029200"/>
            <a:ext cx="35661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multiplicadores (4 DSP) · 6 somadores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RAM 64×32 · 1 ROM 32×32 · ~250 registradores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09160" y="1371600"/>
            <a:ext cx="69037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37760" y="1536192"/>
            <a:ext cx="6400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ITERATIVO (FFT_Top)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0" y="1965960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dual-port 64 × 32 bits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35240" y="196596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FFT_Butterfly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mult. + 6 som. · 6 ciclos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966960" y="1965960"/>
            <a:ext cx="146304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Twiddle ROM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 bits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040880" y="2240280"/>
            <a:ext cx="59436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H="1">
            <a:off x="7040880" y="2651760"/>
            <a:ext cx="594360" cy="914"/>
          </a:xfrm>
          <a:prstGeom prst="line">
            <a:avLst/>
          </a:prstGeom>
          <a:noFill/>
          <a:ln w="2222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708660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Q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 flipH="1">
            <a:off x="9464040" y="2423160"/>
            <a:ext cx="50292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029200" y="342900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FFT_Addr_Gen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q, k por estágio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35240" y="342900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FFT_Control_FSM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/ escrita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966960" y="34290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Bit_Reverse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de carga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 flipV="1">
            <a:off x="6035040" y="2880360"/>
            <a:ext cx="914" cy="54864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7040880" y="3813048"/>
            <a:ext cx="59436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V="1">
            <a:off x="10698480" y="2880360"/>
            <a:ext cx="914" cy="54864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7635240" y="470916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E0F2F1"/>
          </a:solidFill>
          <a:ln w="15875">
            <a:solidFill>
              <a:srgbClr val="00695C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FFT_Magnitude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+ 3/8·min · 0 DSP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549640" y="4206240"/>
            <a:ext cx="914" cy="5029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464040" y="5093208"/>
            <a:ext cx="8686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9509760" y="516636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|X[k]|, índice k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9200" y="470916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amostras do MEM_A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 flipV="1">
            <a:off x="6035040" y="4206240"/>
            <a:ext cx="914" cy="5029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FFT: controle, ciclos e alternativas de paralelismo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MDC/FFT/inversão 20 % + diferencial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852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DA FFT (FFT_Control_FSM)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554480" y="2167128"/>
            <a:ext cx="118872" cy="914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1673352" y="19202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96312" y="2167128"/>
            <a:ext cx="118872" cy="914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2615184" y="19202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5875"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38144" y="2167128"/>
            <a:ext cx="118872" cy="914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557016" y="19202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79976" y="2167128"/>
            <a:ext cx="118872" cy="914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4498848" y="19202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UNLOAD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21808" y="2167128"/>
            <a:ext cx="118872" cy="914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5440680" y="19202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91840" y="2423160"/>
            <a:ext cx="914" cy="274320"/>
          </a:xfrm>
          <a:prstGeom prst="line">
            <a:avLst/>
          </a:prstGeom>
          <a:noFill/>
          <a:ln w="22225">
            <a:solidFill>
              <a:srgbClr val="1565C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H="1">
            <a:off x="2743200" y="2697480"/>
            <a:ext cx="548640" cy="914"/>
          </a:xfrm>
          <a:prstGeom prst="line">
            <a:avLst/>
          </a:prstGeom>
          <a:noFill/>
          <a:ln w="22225">
            <a:solidFill>
              <a:srgbClr val="1565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2743200" y="2423160"/>
            <a:ext cx="914" cy="274320"/>
          </a:xfrm>
          <a:prstGeom prst="line">
            <a:avLst/>
          </a:prstGeom>
          <a:noFill/>
          <a:ln w="2222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33172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estágios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017520"/>
            <a:ext cx="5486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lê A e B · fase 1 escreve P e Q → 2 ciclos por butterfly. Latência de 7 ciclos (ímpar): leitura e escrita nunca disputam as portas.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629400" y="137160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720840" y="1444752"/>
            <a:ext cx="2194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636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6720840" y="2008022"/>
            <a:ext cx="2194560" cy="4169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por quadro (medido)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235440" y="137160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9326880" y="1444752"/>
            <a:ext cx="2194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 µs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9326880" y="2008022"/>
            <a:ext cx="2194560" cy="4169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10 ms (folga de ~790×)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629400" y="265176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F2D9E6"/>
          </a:solidFill>
          <a:ln w="12700">
            <a:solidFill>
              <a:srgbClr val="F2D9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6812280" y="2697480"/>
            <a:ext cx="4663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÷2 em 4 dos 6 estágios (ganho 1/16, a escala do treino); saturação nos outros dois.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777240" y="4069080"/>
            <a:ext cx="10058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DE ARQUITETURA (DIFERENCIAL: COMPARAÇÃO DE DUAS ARQUITETURAS)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389120"/>
          <a:ext cx="10607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645920"/>
                <a:gridCol w="1828800"/>
                <a:gridCol w="2560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ciclos por quadro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butterfly reutilizada (adotada)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RAM dual-port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folga enorme; DSPs livres para a CNN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butterflies em paralelo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portas ou 2 bancos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dobra DSP e memória sem necessidade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totalmente paralela (192 butterflies)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cabe: o chip tem 66 DSPs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MEM_B e bandas BPFO/BPFI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ML 10%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4572000" cy="47548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4206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MEM_B (Spectrum_Accumulator)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96596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|X[k]| × 32 quadros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0..31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17520" y="196596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acumuladores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bits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651760" y="2331720"/>
            <a:ext cx="36576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017520" y="306324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≫ 5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= deslocamento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931920" y="2697480"/>
            <a:ext cx="914" cy="36576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22960" y="406908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E0F2F1"/>
          </a:solidFill>
          <a:ln w="15875">
            <a:solidFill>
              <a:srgbClr val="00695C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peak_detector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406908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E0F2F1"/>
          </a:solidFill>
          <a:ln w="15875">
            <a:solidFill>
              <a:srgbClr val="00695C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Feature_Spectral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características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931920" y="3794760"/>
            <a:ext cx="914" cy="27432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>
            <a:off x="1737360" y="3429000"/>
            <a:ext cx="128016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37360" y="3429000"/>
            <a:ext cx="914" cy="64008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777240" y="5074920"/>
            <a:ext cx="4206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Stream_Fork entrega o mesmo espectro aos dois. 0 DSP.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349240" y="1371600"/>
            <a:ext cx="62636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577840" y="1536192"/>
            <a:ext cx="5852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 CARACTERÍSTICAS ESPECTRAIS (Q1.15)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874520"/>
          <a:ext cx="58064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246888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aponta para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espec[1] / E (50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desbalanceamento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espec[2] / E (100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desalinhamento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espec[3] / E (150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desalinhamento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r_banda1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espec[4:7] / E (200–400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BPFO, BPFI → rolamento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r_banda2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espec[8:15] / E (400–800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r_banda3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espec[16:31] / E (800–1600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log2 da energia total (Mitchell)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carga, severidade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massa espectral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do espectro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5577840" y="5257800"/>
            <a:ext cx="5806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divisor compartilhado nas 7 divisões · 1 DSP · 128 ciclos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ENTRADA E PROCESSAMENTO DE SINAIS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picos e MDC (Euclides) → f0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MDC, FFT e inversão 20%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DE EUCLIDES (mdc_gcd)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96596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15875">
            <a:solidFill>
              <a:srgbClr val="00695C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63240" y="196596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15875">
            <a:solidFill>
              <a:srgbClr val="00695C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B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30175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15875">
            <a:solidFill>
              <a:srgbClr val="00695C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− 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63240" y="30175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15875">
            <a:solidFill>
              <a:srgbClr val="00695C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965960" y="397764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 B ? A = B 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554480" y="2606040"/>
            <a:ext cx="914" cy="41148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749040" y="2606040"/>
            <a:ext cx="914" cy="41148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H="1">
            <a:off x="685800" y="3337560"/>
            <a:ext cx="182880" cy="914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685800" y="2286000"/>
            <a:ext cx="914" cy="1051560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2286000"/>
            <a:ext cx="182880" cy="914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434840" y="3337560"/>
            <a:ext cx="182880" cy="914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4617720" y="2286000"/>
            <a:ext cx="914" cy="1051560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H="1">
            <a:off x="4434840" y="2286000"/>
            <a:ext cx="182880" cy="914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554480" y="3657600"/>
            <a:ext cx="914" cy="64008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554480" y="4297680"/>
            <a:ext cx="4114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749040" y="3657600"/>
            <a:ext cx="914" cy="64008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>
            <a:off x="3337560" y="4297680"/>
            <a:ext cx="4114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777240" y="4800600"/>
            <a:ext cx="38404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ciclo: o maior recebe a diferença. A = B → MDC.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ignorado · &lt; MDC_MIN ou sem picos → erro · watchdog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983480" y="1371600"/>
            <a:ext cx="3291840" cy="4754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212080" y="153619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MDC(12, 18, 30)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8745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 12,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(= 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 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ciclos 3–6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24·18·12·6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5212080" y="40233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5303520" y="4096512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 = 6</a:t>
            </a:r>
            <a:endParaRPr lang="en-US" sz="2400" dirty="0"/>
          </a:p>
        </p:txBody>
      </p:sp>
      <p:sp>
        <p:nvSpPr>
          <p:cNvPr id="34" name="Text 30"/>
          <p:cNvSpPr txBox="1"/>
          <p:nvPr/>
        </p:nvSpPr>
        <p:spPr>
          <a:xfrm>
            <a:off x="5303520" y="4553712"/>
            <a:ext cx="2651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= 6 × 3200 / 64 = 300 Hz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21208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Reproduzido no tb_MDC_Chain.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50392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7" name="Text 33"/>
          <p:cNvSpPr txBox="1"/>
          <p:nvPr/>
        </p:nvSpPr>
        <p:spPr>
          <a:xfrm>
            <a:off x="8732520" y="1536192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E RESULTADO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8778240" y="18745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solidFill>
              <a:srgbClr val="0069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8778240" y="23317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solidFill>
              <a:srgbClr val="0069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778240" y="27889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>
            <a:solidFill>
              <a:srgbClr val="0069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8778240" y="32461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solidFill>
              <a:srgbClr val="0069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8778240" y="37033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solidFill>
              <a:srgbClr val="0069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10149840" y="1874520"/>
            <a:ext cx="14173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picos: 3 maiores acima do limiar, em sequência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8732520" y="425196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5" name="Text 41"/>
          <p:cNvSpPr txBox="1"/>
          <p:nvPr/>
        </p:nvSpPr>
        <p:spPr>
          <a:xfrm>
            <a:off x="8823960" y="4325112"/>
            <a:ext cx="2514600" cy="47777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ciclos</a:t>
            </a:r>
            <a:endParaRPr lang="en-US" sz="2000" dirty="0"/>
          </a:p>
        </p:txBody>
      </p:sp>
      <p:sp>
        <p:nvSpPr>
          <p:cNvPr id="46" name="Text 42"/>
          <p:cNvSpPr txBox="1"/>
          <p:nvPr/>
        </p:nvSpPr>
        <p:spPr>
          <a:xfrm>
            <a:off x="8823960" y="4755794"/>
            <a:ext cx="2514600" cy="3300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 → f0 (medido)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8732520" y="521208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8" name="Text 44"/>
          <p:cNvSpPr txBox="1"/>
          <p:nvPr/>
        </p:nvSpPr>
        <p:spPr>
          <a:xfrm>
            <a:off x="8823960" y="5285232"/>
            <a:ext cx="2514600" cy="42748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</a:t>
            </a:r>
            <a:endParaRPr lang="en-US" sz="2000" dirty="0"/>
          </a:p>
        </p:txBody>
      </p:sp>
      <p:sp>
        <p:nvSpPr>
          <p:cNvPr id="49" name="Text 45"/>
          <p:cNvSpPr txBox="1"/>
          <p:nvPr/>
        </p:nvSpPr>
        <p:spPr>
          <a:xfrm>
            <a:off x="8823960" y="5662879"/>
            <a:ext cx="2514600" cy="2953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na placa (3010 rpm)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ESTIMAÇÃO DE PARÂMETROS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 de coeficientes: autocorrelação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MDC, FFT e inversão 20%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r[k] = Σ x[n] · x[n−k]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k = 0..3, n = k..1055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rho[k] = r[k] / r[0]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Q1.15, |rho| ≤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rho1..3 → árvore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rho1..3 → Toeplitz 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00600" y="1371600"/>
            <a:ext cx="68122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029200" y="1536192"/>
            <a:ext cx="6400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EM FLUXO (autocorrelacao_yw)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74920" y="2057400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x[n], x[n−1..3]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registradores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86600" y="1828800"/>
            <a:ext cx="1280160" cy="594360"/>
          </a:xfrm>
          <a:prstGeom prst="roundRect">
            <a:avLst>
              <a:gd name="adj" fmla="val 10769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(par 1)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/ r2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86600" y="2606040"/>
            <a:ext cx="1280160" cy="594360"/>
          </a:xfrm>
          <a:prstGeom prst="roundRect">
            <a:avLst>
              <a:gd name="adj" fmla="val 10769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(par 2)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/ r3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23960" y="20574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acumuladores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bits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0" y="2057400"/>
            <a:ext cx="914400" cy="777240"/>
          </a:xfrm>
          <a:prstGeom prst="roundRect">
            <a:avLst>
              <a:gd name="adj" fmla="val 8235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r[0]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divisor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29400" y="228600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58000" y="2121408"/>
            <a:ext cx="914" cy="164592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0" y="212140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629400" y="260604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0" y="2606040"/>
            <a:ext cx="914" cy="292608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0" y="289864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366760" y="212140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95360" y="2121408"/>
            <a:ext cx="914" cy="164592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95360" y="228600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366760" y="289864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8595360" y="2606040"/>
            <a:ext cx="914" cy="292608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595360" y="2606040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287000" y="2441448"/>
            <a:ext cx="2286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5029200" y="3429000"/>
            <a:ext cx="420624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multiplicadores: um par de lags por ciclo (r0/r1, depois r2/r3)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guarda a janela: ~17 mil flip-flops economizados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Divisor por restauração compartilhado nas 3 normalizações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por índice: r_valid / r_index / r_data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9418320" y="35204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9509760" y="3593592"/>
            <a:ext cx="182880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2800" dirty="0"/>
          </a:p>
        </p:txBody>
      </p:sp>
      <p:sp>
        <p:nvSpPr>
          <p:cNvPr id="34" name="Text 31"/>
          <p:cNvSpPr txBox="1"/>
          <p:nvPr/>
        </p:nvSpPr>
        <p:spPr>
          <a:xfrm>
            <a:off x="9509760" y="4130345"/>
            <a:ext cx="182880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após a última amostra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418320" y="475488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9509760" y="4828032"/>
            <a:ext cx="182880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DSP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9509760" y="5364785"/>
            <a:ext cx="182880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divisor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ESTIMAÇÃO DE PARÂMETROS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Inversão de matriz: Gauss-Jordan para Yule-Walker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MDC, FFT e inversão 20%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(YULE-WALKER)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1     rho1  rho2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rho1  1     rho1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rho2  rho1  1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· a = r  →  a = R⁻¹ · 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a1..a3 = parâmetros AR(3) do motor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R⁻¹ em Q8.16 (24 bits)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Saem como a/2 em Q1.15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5074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5148072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 LSB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605272"/>
            <a:ext cx="2743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 contra numpy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60520" y="1371600"/>
            <a:ext cx="4114800" cy="4754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38912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(gauss_jordan_inv), POR COLUNA 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34840" y="1874520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21808" y="2212848"/>
            <a:ext cx="914" cy="9144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4434840" y="2304288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FIND_PIVOT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21808" y="2642616"/>
            <a:ext cx="914" cy="9144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4434840" y="2734056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CHECK_PIVOT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21808" y="3072384"/>
            <a:ext cx="914" cy="9144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4434840" y="3163824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321808" y="3502152"/>
            <a:ext cx="914" cy="9144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4434840" y="3593592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 (1/pivô)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321808" y="3931920"/>
            <a:ext cx="914" cy="9144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4434840" y="4023360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321808" y="4361688"/>
            <a:ext cx="914" cy="9144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4434840" y="4453128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321808" y="4791456"/>
            <a:ext cx="914" cy="9144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4434840" y="4882896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NEXT_K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321808" y="5221224"/>
            <a:ext cx="914" cy="9144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4434840" y="5312664"/>
            <a:ext cx="17830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solidFill>
              <a:srgbClr val="E65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17920" y="5001768"/>
            <a:ext cx="228600" cy="914"/>
          </a:xfrm>
          <a:prstGeom prst="line">
            <a:avLst/>
          </a:prstGeom>
          <a:noFill/>
          <a:ln w="22225">
            <a:solidFill>
              <a:srgbClr val="E65100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 flipV="1">
            <a:off x="6446520" y="2473452"/>
            <a:ext cx="914" cy="2528316"/>
          </a:xfrm>
          <a:prstGeom prst="line">
            <a:avLst/>
          </a:prstGeom>
          <a:noFill/>
          <a:ln w="22225">
            <a:solidFill>
              <a:srgbClr val="E65100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 flipH="1">
            <a:off x="6217920" y="2473452"/>
            <a:ext cx="228600" cy="914"/>
          </a:xfrm>
          <a:prstGeom prst="line">
            <a:avLst/>
          </a:prstGeom>
          <a:noFill/>
          <a:ln w="22225">
            <a:solidFill>
              <a:srgbClr val="E65100"/>
            </a:solidFill>
            <a:prstDash val="dash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649224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&lt; 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858000" y="26517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EBEE"/>
          </a:solidFill>
          <a:ln>
            <a:solidFill>
              <a:srgbClr val="C628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/ singular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217920" y="2898648"/>
            <a:ext cx="640080" cy="91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66751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|pivô| &lt; EPSILON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50392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8732520" y="1536192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686800" y="1828800"/>
            <a:ext cx="283464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[A | I]: 4 × 8 palavras + permutação de linhas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Pivotamento parcial (maior |a| da coluna)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multiplicador compartilhado: normalização e eliminação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1/pivô pelo divisor por restauração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9 MACs para a = R⁻¹·r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8732520" y="484632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8823960" y="4919472"/>
            <a:ext cx="11430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2400" dirty="0"/>
          </a:p>
        </p:txBody>
      </p:sp>
      <p:sp>
        <p:nvSpPr>
          <p:cNvPr id="46" name="Text 43"/>
          <p:cNvSpPr txBox="1"/>
          <p:nvPr/>
        </p:nvSpPr>
        <p:spPr>
          <a:xfrm>
            <a:off x="8823960" y="5482742"/>
            <a:ext cx="1143000" cy="4169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(3×3)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0149840" y="484632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10241280" y="4919472"/>
            <a:ext cx="11430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DSP</a:t>
            </a:r>
            <a:endParaRPr lang="en-US" sz="2000" dirty="0"/>
          </a:p>
        </p:txBody>
      </p:sp>
      <p:sp>
        <p:nvSpPr>
          <p:cNvPr id="49" name="Text 46"/>
          <p:cNvSpPr txBox="1"/>
          <p:nvPr/>
        </p:nvSpPr>
        <p:spPr>
          <a:xfrm>
            <a:off x="10241280" y="5482742"/>
            <a:ext cx="1143000" cy="4169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 + solver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CLASSIFICADORES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RegFile e árvore de decisão em hardware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ML 10%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REGFILE (16 × Q1.15)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3429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2344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espectrais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MEM_B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r_lms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rho1..rho3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(Hz)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a1/2..a3/2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Gauss-Jordan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77240" y="3977640"/>
            <a:ext cx="3429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cada palavra uma vez, em qualquer ordem; entrega quando as 16 estão cheias.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846320"/>
            <a:ext cx="3429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ROM atual decide com 0..11; 12..15 chegam ao classificador (retreinar = gerar outra ROM).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61772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84632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(ML_Tree_Classifier)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196596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FFF8E1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de nós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× 32 bits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03720" y="196596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8E1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limiar · filho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92040" y="310896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E8EAF6"/>
          </a:solidFill>
          <a:ln w="15875">
            <a:solidFill>
              <a:srgbClr val="283593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features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Q1.15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903720" y="310896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8E1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≤ limiar ?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897880" y="425196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nó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nó+1 ou filho dir.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629400" y="2331720"/>
            <a:ext cx="27432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7744968" y="2697480"/>
            <a:ext cx="914" cy="41148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629400" y="3474720"/>
            <a:ext cx="27432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7744968" y="3840480"/>
            <a:ext cx="914" cy="77724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flipH="1">
            <a:off x="7635240" y="4617720"/>
            <a:ext cx="109728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 flipH="1">
            <a:off x="4754880" y="4617720"/>
            <a:ext cx="1143000" cy="914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 flipV="1">
            <a:off x="4754880" y="2331720"/>
            <a:ext cx="914" cy="2286000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54880" y="2331720"/>
            <a:ext cx="137160" cy="914"/>
          </a:xfrm>
          <a:prstGeom prst="line">
            <a:avLst/>
          </a:prstGeom>
          <a:noFill/>
          <a:ln w="22225">
            <a:solidFill>
              <a:srgbClr val="870E44"/>
            </a:solidFill>
            <a:prstDash val="solid"/>
            <a:tailEnd type="triangle"/>
          </a:ln>
        </p:spPr>
      </p:sp>
      <p:sp>
        <p:nvSpPr>
          <p:cNvPr id="28" name="Text 24"/>
          <p:cNvSpPr txBox="1"/>
          <p:nvPr/>
        </p:nvSpPr>
        <p:spPr>
          <a:xfrm>
            <a:off x="4846320" y="5212080"/>
            <a:ext cx="38404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→ classe (2 bits) + valid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9052560" y="1371600"/>
            <a:ext cx="2560320" cy="4754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281160" y="153619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9281160" y="18745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9372600" y="1947672"/>
            <a:ext cx="1920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DSP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9372600" y="2404872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comparações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9281160" y="29260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9372600" y="2999232"/>
            <a:ext cx="1920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ciclos</a:t>
            </a:r>
            <a:endParaRPr lang="en-US" sz="2200" dirty="0"/>
          </a:p>
        </p:txBody>
      </p:sp>
      <p:sp>
        <p:nvSpPr>
          <p:cNvPr id="36" name="Text 32"/>
          <p:cNvSpPr txBox="1"/>
          <p:nvPr/>
        </p:nvSpPr>
        <p:spPr>
          <a:xfrm>
            <a:off x="9372600" y="3456432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→ classe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9281160" y="39776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9372600" y="4050792"/>
            <a:ext cx="1920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564 B</a:t>
            </a:r>
            <a:endParaRPr lang="en-US" sz="2200" dirty="0"/>
          </a:p>
        </p:txBody>
      </p:sp>
      <p:sp>
        <p:nvSpPr>
          <p:cNvPr id="39" name="Text 35"/>
          <p:cNvSpPr txBox="1"/>
          <p:nvPr/>
        </p:nvSpPr>
        <p:spPr>
          <a:xfrm>
            <a:off x="9372600" y="4507992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ROM (1 M10K)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281160" y="50292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Text 37"/>
          <p:cNvSpPr txBox="1"/>
          <p:nvPr/>
        </p:nvSpPr>
        <p:spPr>
          <a:xfrm>
            <a:off x="9372600" y="5102352"/>
            <a:ext cx="1920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93,2 %</a:t>
            </a:r>
            <a:endParaRPr lang="en-US" sz="2200" dirty="0"/>
          </a:p>
        </p:txBody>
      </p:sp>
      <p:sp>
        <p:nvSpPr>
          <p:cNvPr id="42" name="Text 38"/>
          <p:cNvSpPr txBox="1"/>
          <p:nvPr/>
        </p:nvSpPr>
        <p:spPr>
          <a:xfrm>
            <a:off x="9372600" y="5559552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no teste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CLASSIFICADORES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como os dados saem da FFT e chegam ao CNN_Top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15%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164592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FFT_Top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|X[k]|, k = 0..63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06040" y="1508760"/>
            <a:ext cx="1463040" cy="914400"/>
          </a:xfrm>
          <a:prstGeom prst="roundRect">
            <a:avLst>
              <a:gd name="adj" fmla="val 7000"/>
            </a:avLst>
          </a:prstGeom>
          <a:solidFill>
            <a:srgbClr val="ECEFF1"/>
          </a:solidFill>
          <a:ln w="15875">
            <a:solidFill>
              <a:srgbClr val="455A64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Stream_Fork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0..31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80560" y="1508760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FFT_Log2_Compress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de Mitchell · 1 ciclo · 0 DSP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03720" y="1508760"/>
            <a:ext cx="2194560" cy="914400"/>
          </a:xfrm>
          <a:prstGeom prst="roundRect">
            <a:avLst>
              <a:gd name="adj" fmla="val 7000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Spectrogram_Buffer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transposição 32×32 (2 M10K)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509760" y="150876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CNN_Top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pixel por ciclo, raster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194560" y="1965960"/>
            <a:ext cx="4114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69080" y="1965960"/>
            <a:ext cx="4114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92240" y="1965960"/>
            <a:ext cx="4114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098280" y="1965960"/>
            <a:ext cx="41148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337560" y="2423160"/>
            <a:ext cx="914" cy="22860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>
            <a:off x="2194560" y="2651760"/>
            <a:ext cx="1143000" cy="914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54864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|X| → MEM_B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297180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7724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DE MITCHELL (bit a bit com o Python)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34747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    = |X| + 1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   = msb(m)  // encoder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 = e·2048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((m − 2^e) ≪ 11) ≫ 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 = min(pixel, 32767)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120640"/>
            <a:ext cx="33832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encoder, subtrator, shifter e somador. Comprime a faixa dinâmica da vibração em 16 bits.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70866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4754880" y="31089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TRANSPOR: CHEGA POR QUADRO, SAI POR LINHA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46320" y="3520440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7488" y="3520440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48656" y="3520440"/>
            <a:ext cx="201168" cy="201168"/>
          </a:xfrm>
          <a:prstGeom prst="rect">
            <a:avLst/>
          </a:prstGeom>
          <a:solidFill>
            <a:srgbClr val="CE9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49824" y="3520440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50992" y="3520440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52160" y="3520440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53328" y="3520440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54496" y="3520440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46320" y="372160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47488" y="372160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248656" y="3721608"/>
            <a:ext cx="201168" cy="201168"/>
          </a:xfrm>
          <a:prstGeom prst="rect">
            <a:avLst/>
          </a:prstGeom>
          <a:solidFill>
            <a:srgbClr val="CE9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49824" y="372160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650992" y="372160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852160" y="372160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53328" y="372160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254496" y="372160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46320" y="392277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47488" y="392277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248656" y="3922776"/>
            <a:ext cx="201168" cy="201168"/>
          </a:xfrm>
          <a:prstGeom prst="rect">
            <a:avLst/>
          </a:prstGeom>
          <a:solidFill>
            <a:srgbClr val="CE9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49824" y="392277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650992" y="392277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52160" y="392277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53328" y="392277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254496" y="392277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846320" y="4123944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047488" y="4123944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248656" y="4123944"/>
            <a:ext cx="201168" cy="201168"/>
          </a:xfrm>
          <a:prstGeom prst="rect">
            <a:avLst/>
          </a:prstGeom>
          <a:solidFill>
            <a:srgbClr val="CE9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49824" y="4123944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650992" y="4123944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852160" y="4123944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053328" y="4123944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254496" y="4123944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846320" y="4325112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047488" y="4325112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248656" y="4325112"/>
            <a:ext cx="201168" cy="201168"/>
          </a:xfrm>
          <a:prstGeom prst="rect">
            <a:avLst/>
          </a:prstGeom>
          <a:solidFill>
            <a:srgbClr val="CE9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49824" y="4325112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650992" y="4325112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852160" y="4325112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053328" y="4325112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254496" y="4325112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846320" y="4526280"/>
            <a:ext cx="201168" cy="201168"/>
          </a:xfrm>
          <a:prstGeom prst="rect">
            <a:avLst/>
          </a:prstGeom>
          <a:solidFill>
            <a:srgbClr val="B39D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047488" y="4526280"/>
            <a:ext cx="201168" cy="201168"/>
          </a:xfrm>
          <a:prstGeom prst="rect">
            <a:avLst/>
          </a:prstGeom>
          <a:solidFill>
            <a:srgbClr val="B39D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248656" y="4526280"/>
            <a:ext cx="201168" cy="201168"/>
          </a:xfrm>
          <a:prstGeom prst="rect">
            <a:avLst/>
          </a:prstGeom>
          <a:solidFill>
            <a:srgbClr val="CE9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449824" y="4526280"/>
            <a:ext cx="201168" cy="201168"/>
          </a:xfrm>
          <a:prstGeom prst="rect">
            <a:avLst/>
          </a:prstGeom>
          <a:solidFill>
            <a:srgbClr val="B39D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650992" y="4526280"/>
            <a:ext cx="201168" cy="201168"/>
          </a:xfrm>
          <a:prstGeom prst="rect">
            <a:avLst/>
          </a:prstGeom>
          <a:solidFill>
            <a:srgbClr val="B39D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852160" y="4526280"/>
            <a:ext cx="201168" cy="201168"/>
          </a:xfrm>
          <a:prstGeom prst="rect">
            <a:avLst/>
          </a:prstGeom>
          <a:solidFill>
            <a:srgbClr val="B39D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053328" y="4526280"/>
            <a:ext cx="201168" cy="201168"/>
          </a:xfrm>
          <a:prstGeom prst="rect">
            <a:avLst/>
          </a:prstGeom>
          <a:solidFill>
            <a:srgbClr val="B39D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254496" y="4526280"/>
            <a:ext cx="201168" cy="201168"/>
          </a:xfrm>
          <a:prstGeom prst="rect">
            <a:avLst/>
          </a:prstGeom>
          <a:solidFill>
            <a:srgbClr val="B39D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846320" y="472744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047488" y="472744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248656" y="4727448"/>
            <a:ext cx="201168" cy="201168"/>
          </a:xfrm>
          <a:prstGeom prst="rect">
            <a:avLst/>
          </a:prstGeom>
          <a:solidFill>
            <a:srgbClr val="CE9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449824" y="472744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650992" y="472744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852160" y="472744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053328" y="472744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254496" y="4727448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4846320" y="492861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047488" y="492861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248656" y="4928616"/>
            <a:ext cx="201168" cy="201168"/>
          </a:xfrm>
          <a:prstGeom prst="rect">
            <a:avLst/>
          </a:prstGeom>
          <a:solidFill>
            <a:srgbClr val="CE9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449824" y="492861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650992" y="492861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852160" y="492861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053328" y="492861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254496" y="4928616"/>
            <a:ext cx="201168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658368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t (coluna) = 32 bins de um instante</a:t>
            </a:r>
            <a:endParaRPr lang="en-US" sz="1200" dirty="0"/>
          </a:p>
        </p:txBody>
      </p:sp>
      <p:sp>
        <p:nvSpPr>
          <p:cNvPr id="91" name="Text 88"/>
          <p:cNvSpPr txBox="1"/>
          <p:nvPr/>
        </p:nvSpPr>
        <p:spPr>
          <a:xfrm>
            <a:off x="658368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f = um bin ao longo dos 32 quadros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4846320" y="5303520"/>
            <a:ext cx="42062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escrita: quadro a quadro (coluna)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linha a linha (raster) → CNN</a:t>
            </a:r>
            <a:endParaRPr lang="en-US" sz="1250" dirty="0"/>
          </a:p>
        </p:txBody>
      </p:sp>
      <p:sp>
        <p:nvSpPr>
          <p:cNvPr id="93" name="Shape 90"/>
          <p:cNvSpPr/>
          <p:nvPr/>
        </p:nvSpPr>
        <p:spPr>
          <a:xfrm>
            <a:off x="9418320" y="35204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4" name="Text 91"/>
          <p:cNvSpPr txBox="1"/>
          <p:nvPr/>
        </p:nvSpPr>
        <p:spPr>
          <a:xfrm>
            <a:off x="9509760" y="3593592"/>
            <a:ext cx="182880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</a:t>
            </a:r>
            <a:endParaRPr lang="en-US" sz="2200" dirty="0"/>
          </a:p>
        </p:txBody>
      </p:sp>
      <p:sp>
        <p:nvSpPr>
          <p:cNvPr id="95" name="Text 92"/>
          <p:cNvSpPr txBox="1"/>
          <p:nvPr/>
        </p:nvSpPr>
        <p:spPr>
          <a:xfrm>
            <a:off x="9509760" y="4130345"/>
            <a:ext cx="182880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= frequência (50 Hz), coluna = tempo (10 ms)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9418320" y="470916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7" name="Text 94"/>
          <p:cNvSpPr txBox="1"/>
          <p:nvPr/>
        </p:nvSpPr>
        <p:spPr>
          <a:xfrm>
            <a:off x="9509760" y="4782312"/>
            <a:ext cx="1828800" cy="6789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1056</a:t>
            </a:r>
            <a:endParaRPr lang="en-US" sz="2400" dirty="0"/>
          </a:p>
        </p:txBody>
      </p:sp>
      <p:sp>
        <p:nvSpPr>
          <p:cNvPr id="98" name="Text 95"/>
          <p:cNvSpPr txBox="1"/>
          <p:nvPr/>
        </p:nvSpPr>
        <p:spPr>
          <a:xfrm>
            <a:off x="9509760" y="5425135"/>
            <a:ext cx="1828800" cy="4690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amostras: a mesma janela da árvore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CLASSIFICADORES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arquitetura detalhada (CNN_Top)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15%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32×32×1 · Q1.15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0" y="160020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Buffer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linhas · janela 3×3 · padding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06240" y="160020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E1BEE7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×8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MAC paralelos · 9 ciclos/janela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63640" y="1600200"/>
            <a:ext cx="1371600" cy="1051560"/>
          </a:xfrm>
          <a:prstGeom prst="roundRect">
            <a:avLst>
              <a:gd name="adj" fmla="val 6087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reescala + satura + max(0,x)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600200"/>
            <a:ext cx="1463040" cy="1051560"/>
          </a:xfrm>
          <a:prstGeom prst="roundRect">
            <a:avLst>
              <a:gd name="adj" fmla="val 6087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2 · streaming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738360" y="160020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E1BEE7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+ densa 8→4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MAC × 32 · argmax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965960" y="2121408"/>
            <a:ext cx="320040" cy="914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886200" y="2121408"/>
            <a:ext cx="320040" cy="914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943600" y="2121408"/>
            <a:ext cx="320040" cy="914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635240" y="2121408"/>
            <a:ext cx="320040" cy="914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418320" y="2121408"/>
            <a:ext cx="320040" cy="914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4206240" y="301752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CNN_Weight_ROM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128 bits + densa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 flipV="1">
            <a:off x="5074920" y="2651760"/>
            <a:ext cx="914" cy="365760"/>
          </a:xfrm>
          <a:prstGeom prst="line">
            <a:avLst/>
          </a:prstGeom>
          <a:noFill/>
          <a:ln w="22225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943600" y="3355848"/>
            <a:ext cx="4727448" cy="914"/>
          </a:xfrm>
          <a:prstGeom prst="line">
            <a:avLst/>
          </a:prstGeom>
          <a:noFill/>
          <a:ln w="22225">
            <a:solidFill>
              <a:srgbClr val="7575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10671048" y="2651760"/>
            <a:ext cx="914" cy="704088"/>
          </a:xfrm>
          <a:prstGeom prst="line">
            <a:avLst/>
          </a:prstGeom>
          <a:noFill/>
          <a:ln w="22225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548640" y="3017520"/>
            <a:ext cx="3337560" cy="685800"/>
          </a:xfrm>
          <a:prstGeom prst="roundRect">
            <a:avLst>
              <a:gd name="adj" fmla="val 9333"/>
            </a:avLst>
          </a:prstGeom>
          <a:solidFill>
            <a:srgbClr val="F5F5F5"/>
          </a:solidFill>
          <a:ln w="15875">
            <a:solidFill>
              <a:srgbClr val="61616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CNN_Control_FSM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STREAM → DRAIN → DENSE → FINISH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977640"/>
            <a:ext cx="6949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7240" y="4114800"/>
            <a:ext cx="6400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E CONTAS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389120"/>
          <a:ext cx="6492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28016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32×32×1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3×3 ×8 + ReLU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32×32×8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73 728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pool 2×2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16×16×8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(≫ 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densa + argmax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→ classe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7726680" y="3977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7818120" y="4050792"/>
            <a:ext cx="1691640" cy="5532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2600" dirty="0"/>
          </a:p>
        </p:txBody>
      </p:sp>
      <p:sp>
        <p:nvSpPr>
          <p:cNvPr id="29" name="Text 25"/>
          <p:cNvSpPr txBox="1"/>
          <p:nvPr/>
        </p:nvSpPr>
        <p:spPr>
          <a:xfrm>
            <a:off x="7818120" y="4561027"/>
            <a:ext cx="1691640" cy="38221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(72+8+32+4)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9738360" y="3977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9829800" y="4050792"/>
            <a:ext cx="1691640" cy="5532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DSP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9829800" y="4561027"/>
            <a:ext cx="1691640" cy="38221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conv + 1 densa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7726680" y="5120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4" name="Text 30"/>
          <p:cNvSpPr txBox="1"/>
          <p:nvPr/>
        </p:nvSpPr>
        <p:spPr>
          <a:xfrm>
            <a:off x="7818120" y="5193792"/>
            <a:ext cx="1691640" cy="5532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9 332</a:t>
            </a:r>
            <a:endParaRPr lang="en-US" sz="2400" dirty="0"/>
          </a:p>
        </p:txBody>
      </p:sp>
      <p:sp>
        <p:nvSpPr>
          <p:cNvPr id="35" name="Text 31"/>
          <p:cNvSpPr txBox="1"/>
          <p:nvPr/>
        </p:nvSpPr>
        <p:spPr>
          <a:xfrm>
            <a:off x="7818120" y="5704027"/>
            <a:ext cx="1691640" cy="38221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por imagem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738360" y="5120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7" name="Text 33"/>
          <p:cNvSpPr txBox="1"/>
          <p:nvPr/>
        </p:nvSpPr>
        <p:spPr>
          <a:xfrm>
            <a:off x="9829800" y="5193792"/>
            <a:ext cx="1691640" cy="5532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µs</a:t>
            </a:r>
            <a:endParaRPr lang="en-US" sz="2400" dirty="0"/>
          </a:p>
        </p:txBody>
      </p:sp>
      <p:sp>
        <p:nvSpPr>
          <p:cNvPr id="38" name="Text 34"/>
          <p:cNvSpPr txBox="1"/>
          <p:nvPr/>
        </p:nvSpPr>
        <p:spPr>
          <a:xfrm>
            <a:off x="9829800" y="5704027"/>
            <a:ext cx="1691640" cy="38221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 MHz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CLASSIFICADORES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line buffer, MACs e nível de paralelismo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15%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BUFFER (pergunta 7)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1920240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1288" y="1920240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53896" y="1920240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46504" y="1920240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39112" y="1920240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31720" y="1920240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4328" y="1920240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16936" y="1920240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2212848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61288" y="2212848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53896" y="2212848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46504" y="2212848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039112" y="2212848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31720" y="2212848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24328" y="2212848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16936" y="2212848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680" y="2505456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61288" y="2505456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453896" y="2505456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746504" y="2505456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039112" y="2505456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331720" y="2505456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624328" y="2505456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916936" y="2505456"/>
            <a:ext cx="292608" cy="292608"/>
          </a:xfrm>
          <a:prstGeom prst="rect">
            <a:avLst/>
          </a:prstGeom>
          <a:solidFill>
            <a:srgbClr val="E1BEE7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8680" y="2798064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61288" y="2798064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453896" y="2798064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46504" y="2798064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039112" y="2798064"/>
            <a:ext cx="292608" cy="292608"/>
          </a:xfrm>
          <a:prstGeom prst="rect">
            <a:avLst/>
          </a:prstGeom>
          <a:solidFill>
            <a:srgbClr val="8E24AA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31720" y="279806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24328" y="279806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916936" y="279806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8680" y="3090672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61288" y="3090672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453896" y="3090672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746504" y="3090672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039112" y="3090672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31720" y="3090672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624328" y="3090672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916936" y="3090672"/>
            <a:ext cx="29260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383280" y="2212848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r−2 e r−1 guardadas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338328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3×3 pronta quando (r, c) chega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777240" y="3611880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868680" y="3685032"/>
            <a:ext cx="205740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9 216 → 1 024</a:t>
            </a:r>
            <a:endParaRPr lang="en-US" sz="2000" dirty="0"/>
          </a:p>
        </p:txBody>
      </p:sp>
      <p:sp>
        <p:nvSpPr>
          <p:cNvPr id="54" name="Text 51"/>
          <p:cNvSpPr txBox="1"/>
          <p:nvPr/>
        </p:nvSpPr>
        <p:spPr>
          <a:xfrm>
            <a:off x="868680" y="4221785"/>
            <a:ext cx="205740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por imagem (9× menos)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3200400" y="3611880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3291840" y="3685032"/>
            <a:ext cx="205740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33</a:t>
            </a:r>
            <a:endParaRPr lang="en-US" sz="2200" dirty="0"/>
          </a:p>
        </p:txBody>
      </p:sp>
      <p:sp>
        <p:nvSpPr>
          <p:cNvPr id="57" name="Text 54"/>
          <p:cNvSpPr txBox="1"/>
          <p:nvPr/>
        </p:nvSpPr>
        <p:spPr>
          <a:xfrm>
            <a:off x="3291840" y="4221785"/>
            <a:ext cx="205740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guardadas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777240" y="4846320"/>
            <a:ext cx="4663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1 sem memória extra: colunas zeradas na borda esquerda e varredura 33×33 empurrando zeros.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5897880" y="1371600"/>
            <a:ext cx="571500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0" name="Text 57"/>
          <p:cNvSpPr txBox="1"/>
          <p:nvPr/>
        </p:nvSpPr>
        <p:spPr>
          <a:xfrm>
            <a:off x="6126480" y="1536192"/>
            <a:ext cx="5303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PARALELISMO (pergunta 6)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874520"/>
          <a:ext cx="5303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118872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ciclos (conv)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totalmente paralela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µs (não cabe)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MAC reutilizado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73 728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MAC (adotada)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9 216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 µs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</a:tbl>
          </a:graphicData>
        </a:graphic>
      </p:graphicFrame>
      <p:sp>
        <p:nvSpPr>
          <p:cNvPr id="62" name="Text 58"/>
          <p:cNvSpPr txBox="1"/>
          <p:nvPr/>
        </p:nvSpPr>
        <p:spPr>
          <a:xfrm>
            <a:off x="6126480" y="3429000"/>
            <a:ext cx="5303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Adotada: paralelo no filtro, serial no tap. Os 8 filtros leem a mesma janela, então o dado é reaproveitado sem custo de memória.</a:t>
            </a:r>
            <a:endParaRPr lang="en-US" sz="1300" dirty="0"/>
          </a:p>
        </p:txBody>
      </p:sp>
      <p:sp>
        <p:nvSpPr>
          <p:cNvPr id="63" name="Shape 59"/>
          <p:cNvSpPr/>
          <p:nvPr/>
        </p:nvSpPr>
        <p:spPr>
          <a:xfrm>
            <a:off x="5897880" y="4526280"/>
            <a:ext cx="5715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4" name="Text 60"/>
          <p:cNvSpPr txBox="1"/>
          <p:nvPr/>
        </p:nvSpPr>
        <p:spPr>
          <a:xfrm>
            <a:off x="6126480" y="4645152"/>
            <a:ext cx="5303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CNN_MAC_Unit: 3 ESTÁGIOS</a:t>
            </a:r>
            <a:endParaRPr lang="en-US" sz="1100" dirty="0"/>
          </a:p>
        </p:txBody>
      </p:sp>
      <p:sp>
        <p:nvSpPr>
          <p:cNvPr id="65" name="Text 61"/>
          <p:cNvSpPr/>
          <p:nvPr/>
        </p:nvSpPr>
        <p:spPr>
          <a:xfrm>
            <a:off x="6172200" y="4983480"/>
            <a:ext cx="1600200" cy="548640"/>
          </a:xfrm>
          <a:prstGeom prst="roundRect">
            <a:avLst>
              <a:gd name="adj" fmla="val 11667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a, b</a:t>
            </a:r>
            <a:endParaRPr lang="en-US" sz="1200" dirty="0"/>
          </a:p>
        </p:txBody>
      </p:sp>
      <p:sp>
        <p:nvSpPr>
          <p:cNvPr id="66" name="Shape 62"/>
          <p:cNvSpPr/>
          <p:nvPr/>
        </p:nvSpPr>
        <p:spPr>
          <a:xfrm>
            <a:off x="7772400" y="5257800"/>
            <a:ext cx="182880" cy="914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67" name="Text 63"/>
          <p:cNvSpPr/>
          <p:nvPr/>
        </p:nvSpPr>
        <p:spPr>
          <a:xfrm>
            <a:off x="7955280" y="4983480"/>
            <a:ext cx="1600200" cy="548640"/>
          </a:xfrm>
          <a:prstGeom prst="roundRect">
            <a:avLst>
              <a:gd name="adj" fmla="val 11667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a·b (DSP)</a:t>
            </a:r>
            <a:endParaRPr lang="en-US" sz="1200" dirty="0"/>
          </a:p>
        </p:txBody>
      </p:sp>
      <p:sp>
        <p:nvSpPr>
          <p:cNvPr id="68" name="Shape 64"/>
          <p:cNvSpPr/>
          <p:nvPr/>
        </p:nvSpPr>
        <p:spPr>
          <a:xfrm>
            <a:off x="9555480" y="5257800"/>
            <a:ext cx="182880" cy="914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69" name="Text 65"/>
          <p:cNvSpPr/>
          <p:nvPr/>
        </p:nvSpPr>
        <p:spPr>
          <a:xfrm>
            <a:off x="9738360" y="4983480"/>
            <a:ext cx="1600200" cy="548640"/>
          </a:xfrm>
          <a:prstGeom prst="roundRect">
            <a:avLst>
              <a:gd name="adj" fmla="val 11667"/>
            </a:avLst>
          </a:prstGeom>
          <a:solidFill>
            <a:srgbClr val="F3E5F5"/>
          </a:solidFill>
          <a:ln w="15875">
            <a:solidFill>
              <a:srgbClr val="6A1B9A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 (40 bits)</a:t>
            </a:r>
            <a:endParaRPr lang="en-US" sz="1200" dirty="0"/>
          </a:p>
        </p:txBody>
      </p:sp>
      <p:sp>
        <p:nvSpPr>
          <p:cNvPr id="70" name="Text 66"/>
          <p:cNvSpPr txBox="1"/>
          <p:nvPr/>
        </p:nvSpPr>
        <p:spPr>
          <a:xfrm>
            <a:off x="6126480" y="5577840"/>
            <a:ext cx="5394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first/last viajam com o dado; o bias entra como valor inicial do acumulador.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CLASSIFICADORES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controle, memória dos mapas e gargalos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15%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7607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5303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(CNN_Control_FSM)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960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>
            <a:solidFill>
              <a:srgbClr val="6A1B9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ready, zera tudo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91640" y="2304288"/>
            <a:ext cx="137160" cy="914"/>
          </a:xfrm>
          <a:prstGeom prst="line">
            <a:avLst/>
          </a:prstGeom>
          <a:noFill/>
          <a:ln w="1587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1828800" y="1920240"/>
            <a:ext cx="960120" cy="777240"/>
          </a:xfrm>
          <a:prstGeom prst="roundRect">
            <a:avLst>
              <a:gd name="adj" fmla="val 11765"/>
            </a:avLst>
          </a:prstGeom>
          <a:solidFill>
            <a:srgbClr val="E1BEE7"/>
          </a:solidFill>
          <a:ln>
            <a:solidFill>
              <a:srgbClr val="6A1B9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1089 passos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88920" y="2304288"/>
            <a:ext cx="137160" cy="914"/>
          </a:xfrm>
          <a:prstGeom prst="line">
            <a:avLst/>
          </a:prstGeom>
          <a:noFill/>
          <a:ln w="1587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2926080" y="1920240"/>
            <a:ext cx="960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>
            <a:solidFill>
              <a:srgbClr val="6A1B9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esvazia pipeline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86200" y="2304288"/>
            <a:ext cx="137160" cy="914"/>
          </a:xfrm>
          <a:prstGeom prst="line">
            <a:avLst/>
          </a:prstGeom>
          <a:noFill/>
          <a:ln w="1587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4023360" y="1920240"/>
            <a:ext cx="960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>
            <a:solidFill>
              <a:srgbClr val="6A1B9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MACs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83480" y="2304288"/>
            <a:ext cx="137160" cy="914"/>
          </a:xfrm>
          <a:prstGeom prst="line">
            <a:avLst/>
          </a:prstGeom>
          <a:noFill/>
          <a:ln w="1587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120640" y="1920240"/>
            <a:ext cx="960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>
            <a:solidFill>
              <a:srgbClr val="6A1B9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+ valid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2834640"/>
            <a:ext cx="53949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só avança se a conv aceita E há pixel válido: é esse AND que evita perda ou sobrescrita.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37960" y="1371600"/>
            <a:ext cx="50749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766560" y="1536192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DOS MAPAS DE CARACTERÍSTICAS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87452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estágio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guardasse tudo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buffer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33 palavras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× 8 palavras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8 192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acumuladores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548640" y="3977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640080" y="4050792"/>
            <a:ext cx="338328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9 332</a:t>
            </a:r>
            <a:endParaRPr lang="en-US" sz="26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4587545"/>
            <a:ext cx="338328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por imagem (medido): 8 968 lendo + 361 até a classe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297680" y="3977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4389120" y="4050792"/>
            <a:ext cx="338328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4389120" y="4587545"/>
            <a:ext cx="338328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gargalo: 9 ciclos por janela, 8 DSPs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046720" y="3977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8138160" y="4050792"/>
            <a:ext cx="338328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~94 %</a:t>
            </a:r>
            <a:endParaRPr lang="en-US" sz="2600" dirty="0"/>
          </a:p>
        </p:txBody>
      </p:sp>
      <p:sp>
        <p:nvSpPr>
          <p:cNvPr id="31" name="Text 27"/>
          <p:cNvSpPr txBox="1"/>
          <p:nvPr/>
        </p:nvSpPr>
        <p:spPr>
          <a:xfrm>
            <a:off x="8138160" y="4587545"/>
            <a:ext cx="338328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trocando a GAP por média só no tempo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2D9E6"/>
          </a:solidFill>
          <a:ln w="12700">
            <a:solidFill>
              <a:srgbClr val="F2D9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CNN acerta menos que a árvore: a média global (GAP) descarta em que frequência está a energia — justamente o que separa desbalanceamento de normal.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IMPLEMENTAÇÃO E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HDL: um módulo numérico e um de ML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sintetizável 10%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86400" cy="3977640"/>
          </a:xfrm>
          <a:prstGeom prst="roundRect">
            <a:avLst>
              <a:gd name="adj" fmla="val 2759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mdc_gcd.v — FSM + DATAPATH DE EUCLIDES (SEQUENCIAL)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7830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S_GCD: 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(a_eq_b) begin                  // A = B: MDC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  &lt;= reg_a;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&lt;= (peak_cnt+1 == NUM_PEAKS)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? S_FINALIZE : S_RECV;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else if (iter_cnt == MAX_ITER) 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timeout_err &lt;= 1'b1;            // watchdog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&lt;= S_FINALIZE;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else 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iter_cnt &lt;= iter_cnt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(a_gt_b) reg_a &lt;= diff_ab;    // A -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       reg_b &lt;= diff_ba;    // B -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37160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46520" y="1481328"/>
            <a:ext cx="4983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CNN_ReLU.v — ATIVAÇÃO (COMBINACIONAL)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178308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reescala Q2.30 -&gt; Q1.15 com arredondamento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signed [ACC_W-1:0] scaled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(in_acc + ROUND_VAL) &gt;&gt;&gt; SHIFT;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saturacao em 16 bits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signed [WIDTH-1:0] sat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(scaled &gt; MAX_VAL) ? MAX_VAL[WIDTH-1:0]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(scaled &lt; MIN_VAL) ? MIN_VAL[WIDTH-1:0]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scaled[WIDTH-1:0];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ReLU: um mux pelo bit de sinal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out_y = sat[WIDTH-1] ? 0 : sat;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48 módulos: interface start / valid / ready / busy / done, parâmetros (WIDTH, FRAC…), laços com limite fixo, nenhum latch.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IMPLEMENTAÇÃO E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e análise numérica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10% · diferencial (erro)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60350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536192"/>
            <a:ext cx="5669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TESTBENCHES — ESPERADO × OBTIDO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55778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96596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testbench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tb_FFT_Top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janelas reais, contrapressão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a bit com o 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tb_MDC_Chain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MDC(12,18,30), sem picos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k0 = 6 → 300 Hz; erro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tb_gauss_jordan_inv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2×2, 3×3 com troca, 4×4, singular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inversa correta; singular =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tb_LMS_Stage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janelas reais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r_lms bit a 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tb_Feature_Spectral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janelas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features bit a 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tb_ML_Tree_Classifier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vetores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= sklearn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tb_CNN_Top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espectrogramas reais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e classe bit a 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tb_SMMA_Top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janelas pelos pinos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= Python, 11/12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tb_Equivalencia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janelas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idêntico à versão da placa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812280" y="1371600"/>
            <a:ext cx="48006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040880" y="153619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FIXO × PONTO FLUTUANTE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040880" y="187452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132320" y="1947672"/>
            <a:ext cx="192024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0,02 %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2484425"/>
            <a:ext cx="192024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imagens com classe diferente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281160" y="187452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9372600" y="1947672"/>
            <a:ext cx="192024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0,15 %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9372600" y="2484425"/>
            <a:ext cx="192024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árvore: janelas com classe diferente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040880" y="306324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7132320" y="3136392"/>
            <a:ext cx="192024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 LSB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7132320" y="3673145"/>
            <a:ext cx="192024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Yule-Walker contra numpy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281160" y="306324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9372600" y="3136392"/>
            <a:ext cx="192024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6,8 %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9372600" y="3673145"/>
            <a:ext cx="192024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aproximada (mantém a ordem dos picos)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995160" y="4251960"/>
            <a:ext cx="448056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teste: aritmética → blocos → sistema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borda: singular, pivô zero, MDC com zero, sem picos, contrapressão aleatória, reuso sem reset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Ondas: ModelSim (sim_latencia.do)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IMPLEMENTAÇÃO E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no Quartus: recursos e tempo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(síntese e tempo crítico)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2237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  <a:gridCol w="1234440"/>
                <a:gridCol w="1005840"/>
                <a:gridCol w="10058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Sample_Source (sensor)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FIR_Decimator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LMS_Stage + LMS_Filter_Top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Frame_Builder (MEM_A)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FFT_Top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Spectrum_Accumulator (MEM_B)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picos + MDC + f0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autocorrelacao_yw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Yule-Walker + Gauss-Jordan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RegFile + árvore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log2 + espectrograma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CNN_Top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4 962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+ painel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10 316 (56 %)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15 416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 (66 %)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(36 %)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046720" y="13258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138160" y="1399032"/>
            <a:ext cx="3383280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+2,96 ns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015338"/>
            <a:ext cx="3383280" cy="4517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de setup a 50 MHz (85 °C)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46720" y="26974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138160" y="2770632"/>
            <a:ext cx="3383280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58,7 MHz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3386938"/>
            <a:ext cx="3383280" cy="4517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Fmax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406908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27532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4480560"/>
            <a:ext cx="329184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M10K: 200 dos 203 são a ROM do sensor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DSP: CNN (9), FFT (4)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crítico: multiplicadores largos do Gauss-Jordan e do solver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IMPLEMENTAÇÃO E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na placa DE0-CV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6.7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6766560" cy="4754880"/>
          </a:xfrm>
          <a:prstGeom prst="roundRect">
            <a:avLst>
              <a:gd name="adj" fmla="val 2308"/>
            </a:avLst>
          </a:prstGeom>
          <a:solidFill>
            <a:srgbClr val="1F3A44"/>
          </a:solidFill>
          <a:ln w="12700">
            <a:solidFill>
              <a:srgbClr val="1F3A4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481328"/>
            <a:ext cx="6400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DE0-CV · Cyclone V 5CEBA4F23C7 · CLOCK_50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1920240"/>
            <a:ext cx="822960" cy="960120"/>
          </a:xfrm>
          <a:prstGeom prst="rect">
            <a:avLst/>
          </a:prstGeom>
          <a:solidFill>
            <a:srgbClr val="0B161B"/>
          </a:solidFill>
          <a:ln>
            <a:solidFill>
              <a:srgbClr val="0B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HEX5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3154680"/>
            <a:ext cx="9692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938528" y="1920240"/>
            <a:ext cx="822960" cy="960120"/>
          </a:xfrm>
          <a:prstGeom prst="rect">
            <a:avLst/>
          </a:prstGeom>
          <a:solidFill>
            <a:srgbClr val="0B161B"/>
          </a:solidFill>
          <a:ln>
            <a:solidFill>
              <a:srgbClr val="0B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1938528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HEX4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865376" y="3154680"/>
            <a:ext cx="9692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62656" y="1920240"/>
            <a:ext cx="822960" cy="960120"/>
          </a:xfrm>
          <a:prstGeom prst="rect">
            <a:avLst/>
          </a:prstGeom>
          <a:solidFill>
            <a:srgbClr val="0B161B"/>
          </a:solidFill>
          <a:ln>
            <a:solidFill>
              <a:srgbClr val="0B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2962656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889504" y="3154680"/>
            <a:ext cx="9692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erro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986784" y="1920240"/>
            <a:ext cx="822960" cy="960120"/>
          </a:xfrm>
          <a:prstGeom prst="rect">
            <a:avLst/>
          </a:prstGeom>
          <a:solidFill>
            <a:srgbClr val="0B161B"/>
          </a:solidFill>
          <a:ln>
            <a:solidFill>
              <a:srgbClr val="0B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3986784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913632" y="3154680"/>
            <a:ext cx="9692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10912" y="1920240"/>
            <a:ext cx="822960" cy="960120"/>
          </a:xfrm>
          <a:prstGeom prst="rect">
            <a:avLst/>
          </a:prstGeom>
          <a:solidFill>
            <a:srgbClr val="0B161B"/>
          </a:solidFill>
          <a:ln>
            <a:solidFill>
              <a:srgbClr val="0B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5010912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3154680"/>
            <a:ext cx="9692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035040" y="1920240"/>
            <a:ext cx="822960" cy="960120"/>
          </a:xfrm>
          <a:prstGeom prst="rect">
            <a:avLst/>
          </a:prstGeom>
          <a:solidFill>
            <a:srgbClr val="0B161B"/>
          </a:solidFill>
          <a:ln>
            <a:solidFill>
              <a:srgbClr val="0B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6035040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HEX0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961888" y="3154680"/>
            <a:ext cx="9692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60120" y="3703320"/>
            <a:ext cx="256032" cy="256032"/>
          </a:xfrm>
          <a:prstGeom prst="ellipse">
            <a:avLst/>
          </a:prstGeom>
          <a:solidFill>
            <a:srgbClr val="FF5252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6112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527048" y="3703320"/>
            <a:ext cx="256032" cy="256032"/>
          </a:xfrm>
          <a:prstGeom prst="ellipse">
            <a:avLst/>
          </a:prstGeom>
          <a:solidFill>
            <a:srgbClr val="5C1A1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463040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093976" y="3703320"/>
            <a:ext cx="256032" cy="256032"/>
          </a:xfrm>
          <a:prstGeom prst="ellipse">
            <a:avLst/>
          </a:prstGeom>
          <a:solidFill>
            <a:srgbClr val="5C1A1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029968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660904" y="3703320"/>
            <a:ext cx="256032" cy="256032"/>
          </a:xfrm>
          <a:prstGeom prst="ellipse">
            <a:avLst/>
          </a:prstGeom>
          <a:solidFill>
            <a:srgbClr val="5C1A1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596896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27832" y="3703320"/>
            <a:ext cx="256032" cy="256032"/>
          </a:xfrm>
          <a:prstGeom prst="ellipse">
            <a:avLst/>
          </a:prstGeom>
          <a:solidFill>
            <a:srgbClr val="FF5252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163824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794760" y="3703320"/>
            <a:ext cx="256032" cy="256032"/>
          </a:xfrm>
          <a:prstGeom prst="ellipse">
            <a:avLst/>
          </a:prstGeom>
          <a:solidFill>
            <a:srgbClr val="FF5252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730752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361688" y="3703320"/>
            <a:ext cx="256032" cy="256032"/>
          </a:xfrm>
          <a:prstGeom prst="ellipse">
            <a:avLst/>
          </a:prstGeom>
          <a:solidFill>
            <a:srgbClr val="5C1A1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297680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928616" y="3703320"/>
            <a:ext cx="256032" cy="256032"/>
          </a:xfrm>
          <a:prstGeom prst="ellipse">
            <a:avLst/>
          </a:prstGeom>
          <a:solidFill>
            <a:srgbClr val="5C1A1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864608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495544" y="3703320"/>
            <a:ext cx="256032" cy="256032"/>
          </a:xfrm>
          <a:prstGeom prst="ellipse">
            <a:avLst/>
          </a:prstGeom>
          <a:solidFill>
            <a:srgbClr val="5C1A1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431536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062472" y="3703320"/>
            <a:ext cx="256032" cy="256032"/>
          </a:xfrm>
          <a:prstGeom prst="ellipse">
            <a:avLst/>
          </a:prstGeom>
          <a:solidFill>
            <a:srgbClr val="5C1A1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998464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7724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LEDR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987552" y="4526280"/>
            <a:ext cx="201168" cy="384048"/>
          </a:xfrm>
          <a:prstGeom prst="rect">
            <a:avLst/>
          </a:prstGeom>
          <a:solidFill>
            <a:srgbClr val="F2A33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96112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554480" y="4526280"/>
            <a:ext cx="201168" cy="384048"/>
          </a:xfrm>
          <a:prstGeom prst="rect">
            <a:avLst/>
          </a:prstGeom>
          <a:solidFill>
            <a:srgbClr val="F2A33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463040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2121408" y="4526280"/>
            <a:ext cx="201168" cy="384048"/>
          </a:xfrm>
          <a:prstGeom prst="rect">
            <a:avLst/>
          </a:prstGeom>
          <a:solidFill>
            <a:srgbClr val="90A4AE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2029968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2688336" y="4526280"/>
            <a:ext cx="201168" cy="384048"/>
          </a:xfrm>
          <a:prstGeom prst="rect">
            <a:avLst/>
          </a:prstGeom>
          <a:solidFill>
            <a:srgbClr val="90A4AE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2596896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3255264" y="4526280"/>
            <a:ext cx="201168" cy="384048"/>
          </a:xfrm>
          <a:prstGeom prst="rect">
            <a:avLst/>
          </a:prstGeom>
          <a:solidFill>
            <a:srgbClr val="90A4AE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163824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822192" y="4526280"/>
            <a:ext cx="201168" cy="384048"/>
          </a:xfrm>
          <a:prstGeom prst="rect">
            <a:avLst/>
          </a:prstGeom>
          <a:solidFill>
            <a:srgbClr val="90A4AE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3730752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389120" y="4526280"/>
            <a:ext cx="201168" cy="384048"/>
          </a:xfrm>
          <a:prstGeom prst="rect">
            <a:avLst/>
          </a:prstGeom>
          <a:solidFill>
            <a:srgbClr val="F2A33A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297680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956048" y="4526280"/>
            <a:ext cx="201168" cy="384048"/>
          </a:xfrm>
          <a:prstGeom prst="rect">
            <a:avLst/>
          </a:prstGeom>
          <a:solidFill>
            <a:srgbClr val="90A4AE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864608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5522976" y="4526280"/>
            <a:ext cx="201168" cy="384048"/>
          </a:xfrm>
          <a:prstGeom prst="rect">
            <a:avLst/>
          </a:prstGeom>
          <a:solidFill>
            <a:srgbClr val="90A4AE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431536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6089904" y="4526280"/>
            <a:ext cx="201168" cy="384048"/>
          </a:xfrm>
          <a:prstGeom prst="rect">
            <a:avLst/>
          </a:prstGeom>
          <a:solidFill>
            <a:srgbClr val="90A4AE"/>
          </a:solidFill>
          <a:ln w="12700">
            <a:solidFill>
              <a:srgbClr val="0B161B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5998464" y="49377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777240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1280160" y="5349240"/>
            <a:ext cx="457200" cy="457200"/>
          </a:xfrm>
          <a:prstGeom prst="ellipse">
            <a:avLst/>
          </a:prstGeom>
          <a:solidFill>
            <a:srgbClr val="263238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188720" y="5806440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KEY1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2194560" y="5349240"/>
            <a:ext cx="457200" cy="457200"/>
          </a:xfrm>
          <a:prstGeom prst="ellipse">
            <a:avLst/>
          </a:prstGeom>
          <a:solidFill>
            <a:srgbClr val="263238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2103120" y="5806440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KEY0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7543800" y="1371600"/>
            <a:ext cx="4069080" cy="47548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75" name="Text 72"/>
          <p:cNvSpPr txBox="1"/>
          <p:nvPr/>
        </p:nvSpPr>
        <p:spPr>
          <a:xfrm>
            <a:off x="77724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828800"/>
          <a:ext cx="3657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 a janela (~0,33 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SW[3:0]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0..11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f0 (Hz) nos HEX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LEDs mostram scores da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Text 73"/>
          <p:cNvSpPr txBox="1"/>
          <p:nvPr/>
        </p:nvSpPr>
        <p:spPr>
          <a:xfrm>
            <a:off x="777240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</a:t>
            </a:r>
            <a:endParaRPr lang="en-US" sz="11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977640"/>
          <a:ext cx="3657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da árvore (one-hot)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certa / CNN certa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= CNN / Python certo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ocupado / resultado válido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IMPLEMENTAÇÃO E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Demonstração: o que a placa deve mostrar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6.7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223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109728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(SW)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do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verdadeira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(HEX0)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(HEX1)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0Nm_Normal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(0001)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0Nm_Unbalance_1751mg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(0010)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0Nm_Misalign_03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(0011)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0Nm_BPFO_10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(0100)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2Nm_Normal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(0101)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2Nm_Unbalance_1751mg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(0110)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2Nm_Misalign_03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(0111)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2Nm_BPFO_10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(1000)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4Nm_Normal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(1001)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4Nm_Unbalance_1751mg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(1010)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4Nm_Misalign_03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(1011)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4Nm_BPFO_10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046720" y="1325880"/>
            <a:ext cx="35661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27532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(1 MIN)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1783080"/>
            <a:ext cx="32918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KEY0: reset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SW[3:0]: escolher a janela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KEY1: processar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LEDR8 ~0,33 s → LEDR9 acende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HEX0, HEX1, HEX2; SW8 → f0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46720" y="393192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138160" y="4005072"/>
            <a:ext cx="150876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4541825"/>
            <a:ext cx="150876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921240" y="393192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10012680" y="4005072"/>
            <a:ext cx="150876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10012680" y="4541825"/>
            <a:ext cx="1508760" cy="399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516636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2D9E6"/>
          </a:solidFill>
          <a:ln w="12700">
            <a:solidFill>
              <a:srgbClr val="F2D9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229600" y="5212080"/>
            <a:ext cx="32918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8: o modelo Python também erra — o hardware reproduz o modelo fielmente.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IMPLEMENTAÇÃO E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projeto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6382512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na IP: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6.8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148840"/>
            <a:ext cx="242316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 FFT/MDC, parâmetros e CNN sobre a mesma janela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filtros da convolução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55848" y="137160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38728" y="1536192"/>
            <a:ext cx="457200" cy="457200"/>
          </a:xfrm>
          <a:prstGeom prst="ellipse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087368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465576" y="2148840"/>
            <a:ext cx="242316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FIR: 1 mult. × 63 · LMS: 1 PE × 16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FFT: 1 butterfly × 192 · densa: 1 MAC × 32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9: entre FFT, LMS e CNN não compensa (trabalham ao mesmo tempo; 24/66 DSP)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63056" y="137160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45936" y="1536192"/>
            <a:ext cx="457200" cy="457200"/>
          </a:xfrm>
          <a:prstGeom prst="ellipse">
            <a:avLst/>
          </a:prstGeom>
          <a:solidFill>
            <a:srgbClr val="F2A33A"/>
          </a:solidFill>
          <a:ln>
            <a:solidFill>
              <a:srgbClr val="F2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894576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 e consumo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2148840"/>
            <a:ext cx="242316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multiplicadores: CNN (9 DSP), depois FFT (4) — pergunta 8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ciclos: CNN, 9 332 por imagem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memória: ROM do sensor (200 M10K)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970264" y="137160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153144" y="1536192"/>
            <a:ext cx="457200" cy="457200"/>
          </a:xfrm>
          <a:prstGeom prst="ellipse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701784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079992" y="2148840"/>
            <a:ext cx="242316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 com média só no tempo (~94 % na validação)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 8 bits (mesma acurácia, metade da memória)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gating dos ramos ociosos; FIR simétrico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2232B"/>
          </a:solidFill>
          <a:ln w="12700">
            <a:solidFill>
              <a:srgbClr val="12232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10 ms (pergunta 11): atendido.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quadro novo é transformado em 12,7 µs (folga de ~790×); a decisão completa sai 0,2 ms após a última amostra.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IMPLEMENTAÇÃO E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dos resultados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444752"/>
            <a:ext cx="2468880" cy="729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93,2 %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40610"/>
            <a:ext cx="2468880" cy="503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— acurácia no teste (bal. 90,1 %)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447288" y="1444752"/>
            <a:ext cx="2468880" cy="729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83,2 %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3447288" y="2140610"/>
            <a:ext cx="2468880" cy="503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acurácia no teste (bal. 82,1 %)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3056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254496" y="1444752"/>
            <a:ext cx="2468880" cy="729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254496" y="2140610"/>
            <a:ext cx="2468880" cy="503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na placa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70264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061704" y="1444752"/>
            <a:ext cx="2468880" cy="729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9061704" y="2140610"/>
            <a:ext cx="2468880" cy="503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na placa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8803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0080" y="2953512"/>
            <a:ext cx="2468880" cy="729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 ms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649370"/>
            <a:ext cx="2468880" cy="503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última amostra ao resultado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55848" y="28803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447288" y="2953512"/>
            <a:ext cx="2468880" cy="729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 µs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3447288" y="3649370"/>
            <a:ext cx="2468880" cy="503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de um quadro (10 ms disponíveis)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63056" y="28803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953512"/>
            <a:ext cx="2468880" cy="729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 µs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6254496" y="3649370"/>
            <a:ext cx="2468880" cy="503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da árvore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970264" y="28803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9061704" y="2953512"/>
            <a:ext cx="2468880" cy="729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µs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9061704" y="3649370"/>
            <a:ext cx="2468880" cy="503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da CNN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4389120"/>
            <a:ext cx="6766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777240" y="4526280"/>
            <a:ext cx="6400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POR CARGA (TESTE, PONTO FIXO)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846320"/>
          <a:ext cx="6309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234440"/>
                <a:gridCol w="1234440"/>
                <a:gridCol w="1234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N·m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N·m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N·m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7543800" y="438912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777240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(QUARTUS)</a:t>
            </a:r>
            <a:endParaRPr lang="en-US" sz="11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4846320"/>
          <a:ext cx="36576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1051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58,7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2743200" cy="2743200"/>
          </a:xfrm>
          <a:prstGeom prst="ellipse">
            <a:avLst/>
          </a:prstGeom>
          <a:solidFill>
            <a:srgbClr val="12232B">
              <a:alpha val="0"/>
            </a:srgbClr>
          </a:solidFill>
          <a:ln w="15875">
            <a:solidFill>
              <a:srgbClr val="870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1783080"/>
            <a:ext cx="1920240" cy="1920240"/>
          </a:xfrm>
          <a:prstGeom prst="ellipse">
            <a:avLst/>
          </a:prstGeom>
          <a:solidFill>
            <a:srgbClr val="12232B">
              <a:alpha val="0"/>
            </a:srgbClr>
          </a:solidFill>
          <a:ln w="15875">
            <a:solidFill>
              <a:srgbClr val="870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2194560"/>
            <a:ext cx="1097280" cy="1097280"/>
          </a:xfrm>
          <a:prstGeom prst="ellipse">
            <a:avLst/>
          </a:prstGeom>
          <a:solidFill>
            <a:srgbClr val="12232B">
              <a:alpha val="0"/>
            </a:srgbClr>
          </a:solidFill>
          <a:ln w="15875">
            <a:solidFill>
              <a:srgbClr val="870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93808" y="2487168"/>
            <a:ext cx="512064" cy="512064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módulos do enunciado estão em hardware, integrados por handshake e gravados na placa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foi modelado bit a bit: o Python é a especificação, o hardware reproduz o modelo (11/12, como previsto)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temporal enorme: decisão 0,2 ms após a janela; FFT de um quadro em 12,7 µs contra 10 ms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um canal (memória), GAP da CNN, MDC só para falhas harmônicas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densa com média no tempo, pesos de 8 bits, FFT de 256 pontos, sensor real no lugar da ROM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577840"/>
            <a:ext cx="45720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2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E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870E44"/>
          </a:solidFill>
          <a:ln>
            <a:solidFill>
              <a:srgbClr val="870E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da banca (seção 7): respostas curtas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3825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152400" rIns="1270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0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017520"/>
                <a:gridCol w="6903720"/>
                <a:gridCol w="731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curta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0E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de 64 → 256 pontos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butterflies (5,3×), ~2,6 mil ciclos, ainda cabe; 12,5 Hz/bin; CNN teria de ser retreinada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Pivô zero ou próximo de zero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Pivotamento parcial; |pivô| &lt; EPSILON → singular, coeficientes zerados; ÷0 →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/ perda de precisão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÷2 na FFT, acumuladores largos, saturação; Q8.16 na matriz; erro medido 0,02–0,15 %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Ciclos para atualizar o LMS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ciclos de emissão + 5 de escrita, numa iteração de 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 antes da próxima amostra?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Sim: 30 ciclos por amostra contra 15 625 disponíveis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paralela × 1 MAC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mult. (~1 024 ciclos, não cabe) × 1 mult. (73 728 ciclos); usamos 8 MACs: 9 216 ciclos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buffers e acessos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pixel lido uma vez: 9 216 → 1 024 acessos, com 2 × 33 palavras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consumo de multiplicadores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(9 DSP), depois FFT (4)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Compartilhar mult. entre FFT, LMS e CNN?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aqui: trabalham ao mesmo tempo; compartilhamos dentro de cada módulo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saber que a saída é válida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valid/ready em todos os streams, done por bloco, LEDR9 no resultado final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 de 10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Sim: 12,7 µs por quadro; decisão 0,2 ms após a última amostra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MMA">
  <a:themeElements>
    <a:clrScheme name="SMMA">
      <a:dk1>
        <a:srgbClr val="12232B"/>
      </a:dk1>
      <a:lt1>
        <a:srgbClr val="FFFFFF"/>
      </a:lt1>
      <a:dk2>
        <a:srgbClr val="12232B"/>
      </a:dk2>
      <a:lt2>
        <a:srgbClr val="EBE6EA"/>
      </a:lt2>
      <a:accent1>
        <a:srgbClr val="870E44"/>
      </a:accent1>
      <a:accent2>
        <a:srgbClr val="0E7C7B"/>
      </a:accent2>
      <a:accent3>
        <a:srgbClr val="F2A33A"/>
      </a:accent3>
      <a:accent4>
        <a:srgbClr val="5B6B73"/>
      </a:accent4>
      <a:accent5>
        <a:srgbClr val="F2D9E6"/>
      </a:accent5>
      <a:accent6>
        <a:srgbClr val="D5DEE2"/>
      </a:accent6>
      <a:hlink>
        <a:srgbClr val="0E7C7B"/>
      </a:hlink>
      <a:folHlink>
        <a:srgbClr val="870E44"/>
      </a:folHlink>
    </a:clrScheme>
    <a:fontScheme name="SMM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SMMA — Smart Machine Monitoring Accelerator</dc:title>
  <dc:subject>PBL Circuitos Digitais IV</dc:subject>
  <dc:creator>Equipe SMMA</dc:creator>
  <cp:lastModifiedBy>Equipe SMMA</cp:lastModifiedBy>
  <cp:revision>1</cp:revision>
  <dcterms:created xsi:type="dcterms:W3CDTF">2026-10-09T22:24:58Z</dcterms:created>
  <dcterms:modified xsi:type="dcterms:W3CDTF">2026-10-09T22:24:58Z</dcterms:modified>
</cp:coreProperties>
</file>